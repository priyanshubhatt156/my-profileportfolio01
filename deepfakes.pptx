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0534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40534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3285" y="2119807"/>
            <a:ext cx="6977380" cy="645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17059" y="1877483"/>
            <a:ext cx="7475340" cy="7563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534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352" y="290607"/>
            <a:ext cx="16873295" cy="140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B45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879846"/>
            <a:ext cx="10069830" cy="562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0534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01076" y="2507457"/>
            <a:ext cx="9330055" cy="26257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z="5550" spc="260"/>
              <a:t>DeepFake</a:t>
            </a:r>
            <a:r>
              <a:rPr dirty="0" sz="5550" spc="-20"/>
              <a:t> </a:t>
            </a:r>
            <a:r>
              <a:rPr dirty="0" sz="5550" spc="290"/>
              <a:t>Technology</a:t>
            </a:r>
            <a:r>
              <a:rPr dirty="0" sz="5550" spc="-20"/>
              <a:t> </a:t>
            </a:r>
            <a:r>
              <a:rPr dirty="0" sz="5550" spc="240"/>
              <a:t>and the</a:t>
            </a:r>
            <a:r>
              <a:rPr dirty="0" sz="5550" spc="-30"/>
              <a:t> </a:t>
            </a:r>
            <a:r>
              <a:rPr dirty="0" sz="5550" spc="215"/>
              <a:t>collapse</a:t>
            </a:r>
            <a:r>
              <a:rPr dirty="0" sz="5550" spc="-30"/>
              <a:t> </a:t>
            </a:r>
            <a:r>
              <a:rPr dirty="0" sz="5550" spc="385"/>
              <a:t>of</a:t>
            </a:r>
            <a:r>
              <a:rPr dirty="0" sz="5550" spc="-25"/>
              <a:t> </a:t>
            </a:r>
            <a:r>
              <a:rPr dirty="0" sz="5550" spc="204"/>
              <a:t>digital </a:t>
            </a:r>
            <a:r>
              <a:rPr dirty="0" sz="5550" spc="265"/>
              <a:t>trust</a:t>
            </a:r>
            <a:endParaRPr sz="5550"/>
          </a:p>
        </p:txBody>
      </p:sp>
      <p:sp>
        <p:nvSpPr>
          <p:cNvPr id="4" name="object 4"/>
          <p:cNvSpPr txBox="1"/>
          <p:nvPr/>
        </p:nvSpPr>
        <p:spPr>
          <a:xfrm>
            <a:off x="7837538" y="5628814"/>
            <a:ext cx="8870950" cy="920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Exploring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impact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AI-generated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misinformation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a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more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secure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future.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8917" y="3968070"/>
            <a:ext cx="8991599" cy="3238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344851"/>
            <a:ext cx="7171055" cy="6788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250" spc="520"/>
              <a:t>WHAT</a:t>
            </a:r>
            <a:r>
              <a:rPr dirty="0" sz="4250" spc="-25"/>
              <a:t> </a:t>
            </a:r>
            <a:r>
              <a:rPr dirty="0" sz="4250" spc="484"/>
              <a:t>ARE</a:t>
            </a:r>
            <a:r>
              <a:rPr dirty="0" sz="4250" spc="-25"/>
              <a:t> </a:t>
            </a:r>
            <a:r>
              <a:rPr dirty="0" sz="4250" spc="465"/>
              <a:t>DEEPFAKES?</a:t>
            </a:r>
            <a:endParaRPr sz="4250"/>
          </a:p>
        </p:txBody>
      </p:sp>
      <p:sp>
        <p:nvSpPr>
          <p:cNvPr id="4" name="object 4"/>
          <p:cNvSpPr txBox="1"/>
          <p:nvPr/>
        </p:nvSpPr>
        <p:spPr>
          <a:xfrm>
            <a:off x="1563655" y="1270631"/>
            <a:ext cx="6053455" cy="8275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72440">
              <a:lnSpc>
                <a:spcPct val="100000"/>
              </a:lnSpc>
              <a:spcBef>
                <a:spcPts val="135"/>
              </a:spcBef>
            </a:pPr>
            <a:r>
              <a:rPr dirty="0" sz="2650" spc="16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6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650" spc="245" b="1">
                <a:solidFill>
                  <a:srgbClr val="3B4540"/>
                </a:solidFill>
                <a:latin typeface="Cambria"/>
                <a:cs typeface="Cambria"/>
              </a:rPr>
              <a:t>AI-</a:t>
            </a:r>
            <a:r>
              <a:rPr dirty="0" sz="2650" spc="140" b="1">
                <a:solidFill>
                  <a:srgbClr val="3B4540"/>
                </a:solidFill>
                <a:latin typeface="Cambria"/>
                <a:cs typeface="Cambria"/>
              </a:rPr>
              <a:t>Powered</a:t>
            </a:r>
            <a:r>
              <a:rPr dirty="0" sz="26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650" spc="120" b="1">
                <a:solidFill>
                  <a:srgbClr val="3B4540"/>
                </a:solidFill>
                <a:latin typeface="Cambria"/>
                <a:cs typeface="Cambria"/>
              </a:rPr>
              <a:t>Illusion</a:t>
            </a:r>
            <a:endParaRPr sz="2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650">
              <a:latin typeface="Cambria"/>
              <a:cs typeface="Cambria"/>
            </a:endParaRPr>
          </a:p>
          <a:p>
            <a:pPr marL="12700" marR="243840">
              <a:lnSpc>
                <a:spcPct val="111400"/>
              </a:lnSpc>
            </a:pP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00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AI-generated</a:t>
            </a:r>
            <a:r>
              <a:rPr dirty="0" sz="200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images,</a:t>
            </a:r>
            <a:r>
              <a:rPr dirty="0" sz="200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videos,</a:t>
            </a:r>
            <a:r>
              <a:rPr dirty="0" sz="200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405349"/>
                </a:solidFill>
                <a:latin typeface="Microsoft Sans Serif"/>
                <a:cs typeface="Microsoft Sans Serif"/>
              </a:rPr>
              <a:t>or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audio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created</a:t>
            </a:r>
            <a:r>
              <a:rPr dirty="0" sz="200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using</a:t>
            </a:r>
            <a:r>
              <a:rPr dirty="0" sz="200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deep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00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200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405349"/>
                </a:solidFill>
                <a:latin typeface="Microsoft Sans Serif"/>
                <a:cs typeface="Microsoft Sans Serif"/>
              </a:rPr>
              <a:t>can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imitate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real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people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high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405349"/>
                </a:solidFill>
                <a:latin typeface="Microsoft Sans Serif"/>
                <a:cs typeface="Microsoft Sans Serif"/>
              </a:rPr>
              <a:t>realism.</a:t>
            </a:r>
            <a:endParaRPr sz="2000">
              <a:latin typeface="Microsoft Sans Serif"/>
              <a:cs typeface="Microsoft Sans Serif"/>
            </a:endParaRPr>
          </a:p>
          <a:p>
            <a:pPr marL="12700" marR="113664">
              <a:lnSpc>
                <a:spcPct val="111400"/>
              </a:lnSpc>
            </a:pP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They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mainly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built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using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neural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networks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405349"/>
                </a:solidFill>
                <a:latin typeface="Microsoft Sans Serif"/>
                <a:cs typeface="Microsoft Sans Serif"/>
              </a:rPr>
              <a:t>like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GANs</a:t>
            </a:r>
            <a:r>
              <a:rPr dirty="0" sz="2000" spc="114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(Generative</a:t>
            </a:r>
            <a:r>
              <a:rPr dirty="0" sz="2000" spc="1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Adversarial</a:t>
            </a:r>
            <a:r>
              <a:rPr dirty="0" sz="2000" spc="1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Networks),</a:t>
            </a:r>
            <a:r>
              <a:rPr dirty="0" sz="2000" spc="114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405349"/>
                </a:solidFill>
                <a:latin typeface="Microsoft Sans Serif"/>
                <a:cs typeface="Microsoft Sans Serif"/>
              </a:rPr>
              <a:t>where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one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model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generates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another</a:t>
            </a:r>
            <a:r>
              <a:rPr dirty="0" sz="200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405349"/>
                </a:solidFill>
                <a:latin typeface="Microsoft Sans Serif"/>
                <a:cs typeface="Microsoft Sans Serif"/>
              </a:rPr>
              <a:t>tries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detect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405349"/>
                </a:solidFill>
                <a:latin typeface="Microsoft Sans Serif"/>
                <a:cs typeface="Microsoft Sans Serif"/>
              </a:rPr>
              <a:t>it.</a:t>
            </a:r>
            <a:endParaRPr sz="2000">
              <a:latin typeface="Microsoft Sans Serif"/>
              <a:cs typeface="Microsoft Sans Serif"/>
            </a:endParaRPr>
          </a:p>
          <a:p>
            <a:pPr marL="12700" marR="172085">
              <a:lnSpc>
                <a:spcPct val="111400"/>
              </a:lnSpc>
            </a:pP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improve,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405349"/>
                </a:solidFill>
                <a:latin typeface="Microsoft Sans Serif"/>
                <a:cs typeface="Microsoft Sans Serif"/>
              </a:rPr>
              <a:t>becoming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more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realistic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harder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405349"/>
                </a:solidFill>
                <a:latin typeface="Microsoft Sans Serif"/>
                <a:cs typeface="Microsoft Sans Serif"/>
              </a:rPr>
              <a:t>human </a:t>
            </a:r>
            <a:r>
              <a:rPr dirty="0" sz="2000" spc="-20">
                <a:solidFill>
                  <a:srgbClr val="405349"/>
                </a:solidFill>
                <a:latin typeface="Microsoft Sans Serif"/>
                <a:cs typeface="Microsoft Sans Serif"/>
              </a:rPr>
              <a:t>eye.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450" b="1">
                <a:solidFill>
                  <a:srgbClr val="405349"/>
                </a:solidFill>
                <a:latin typeface="Arial"/>
                <a:cs typeface="Arial"/>
              </a:rPr>
              <a:t>Why</a:t>
            </a:r>
            <a:r>
              <a:rPr dirty="0" sz="24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405349"/>
                </a:solidFill>
                <a:latin typeface="Arial"/>
                <a:cs typeface="Arial"/>
              </a:rPr>
              <a:t>Deepfakes</a:t>
            </a:r>
            <a:r>
              <a:rPr dirty="0" sz="2450" spc="5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405349"/>
                </a:solidFill>
                <a:latin typeface="Arial"/>
                <a:cs typeface="Arial"/>
              </a:rPr>
              <a:t>Are</a:t>
            </a:r>
            <a:r>
              <a:rPr dirty="0" sz="24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405349"/>
                </a:solidFill>
                <a:latin typeface="Arial"/>
                <a:cs typeface="Arial"/>
              </a:rPr>
              <a:t>a</a:t>
            </a:r>
            <a:r>
              <a:rPr dirty="0" sz="2450" spc="5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405349"/>
                </a:solidFill>
                <a:latin typeface="Arial"/>
                <a:cs typeface="Arial"/>
              </a:rPr>
              <a:t>Serious</a:t>
            </a:r>
            <a:r>
              <a:rPr dirty="0" sz="24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405349"/>
                </a:solidFill>
                <a:latin typeface="Arial"/>
                <a:cs typeface="Arial"/>
              </a:rPr>
              <a:t>Problem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450">
              <a:latin typeface="Arial"/>
              <a:cs typeface="Arial"/>
            </a:endParaRPr>
          </a:p>
          <a:p>
            <a:pPr marL="12700" marR="34290">
              <a:lnSpc>
                <a:spcPct val="112799"/>
              </a:lnSpc>
            </a:pP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0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biggest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issue</a:t>
            </a:r>
            <a:r>
              <a:rPr dirty="0" sz="20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with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0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that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they</a:t>
            </a:r>
            <a:r>
              <a:rPr dirty="0" sz="20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break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50" spc="2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trust.</a:t>
            </a:r>
            <a:endParaRPr sz="2050">
              <a:latin typeface="Microsoft Sans Serif"/>
              <a:cs typeface="Microsoft Sans Serif"/>
            </a:endParaRPr>
          </a:p>
          <a:p>
            <a:pPr marL="12700" marR="372745">
              <a:lnSpc>
                <a:spcPct val="112799"/>
              </a:lnSpc>
            </a:pP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We</a:t>
            </a:r>
            <a:r>
              <a:rPr dirty="0" sz="20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no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longer</a:t>
            </a:r>
            <a:r>
              <a:rPr dirty="0" sz="20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fully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trust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what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we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see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20">
                <a:solidFill>
                  <a:srgbClr val="405349"/>
                </a:solidFill>
                <a:latin typeface="Microsoft Sans Serif"/>
                <a:cs typeface="Microsoft Sans Serif"/>
              </a:rPr>
              <a:t>hear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online.</a:t>
            </a:r>
            <a:endParaRPr sz="2050">
              <a:latin typeface="Microsoft Sans Serif"/>
              <a:cs typeface="Microsoft Sans Serif"/>
            </a:endParaRPr>
          </a:p>
          <a:p>
            <a:pPr marL="12700" marR="592455">
              <a:lnSpc>
                <a:spcPct val="112799"/>
              </a:lnSpc>
            </a:pP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videos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0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damage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reputations,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spread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misinformation,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manipulate</a:t>
            </a:r>
            <a:r>
              <a:rPr dirty="0" sz="20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public</a:t>
            </a:r>
            <a:r>
              <a:rPr dirty="0" sz="20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opinion.</a:t>
            </a:r>
            <a:endParaRPr sz="2050">
              <a:latin typeface="Microsoft Sans Serif"/>
              <a:cs typeface="Microsoft Sans Serif"/>
            </a:endParaRPr>
          </a:p>
          <a:p>
            <a:pPr marL="12700" marR="5080">
              <a:lnSpc>
                <a:spcPct val="112799"/>
              </a:lnSpc>
            </a:pP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This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creates</a:t>
            </a:r>
            <a:r>
              <a:rPr dirty="0" sz="20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confusion,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fear,</a:t>
            </a:r>
            <a:r>
              <a:rPr dirty="0" sz="20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loss</a:t>
            </a:r>
            <a:r>
              <a:rPr dirty="0" sz="20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0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confidence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05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05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10">
                <a:solidFill>
                  <a:srgbClr val="405349"/>
                </a:solidFill>
                <a:latin typeface="Microsoft Sans Serif"/>
                <a:cs typeface="Microsoft Sans Serif"/>
              </a:rPr>
              <a:t>media.</a:t>
            </a:r>
            <a:endParaRPr sz="20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31317" y="4120470"/>
            <a:ext cx="11227435" cy="3238500"/>
            <a:chOff x="6031317" y="4120470"/>
            <a:chExt cx="11227435" cy="32385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1317" y="4120470"/>
              <a:ext cx="8991599" cy="3238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6657" y="4120470"/>
              <a:ext cx="8991599" cy="3238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ED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017282" y="1913272"/>
            <a:ext cx="9789160" cy="2707640"/>
            <a:chOff x="2017282" y="1913272"/>
            <a:chExt cx="9789160" cy="2707640"/>
          </a:xfrm>
        </p:grpSpPr>
        <p:sp>
          <p:nvSpPr>
            <p:cNvPr id="4" name="object 4"/>
            <p:cNvSpPr/>
            <p:nvPr/>
          </p:nvSpPr>
          <p:spPr>
            <a:xfrm>
              <a:off x="2095922" y="1930852"/>
              <a:ext cx="9696450" cy="2672715"/>
            </a:xfrm>
            <a:custGeom>
              <a:avLst/>
              <a:gdLst/>
              <a:ahLst/>
              <a:cxnLst/>
              <a:rect l="l" t="t" r="r" b="b"/>
              <a:pathLst>
                <a:path w="9696450" h="2672715">
                  <a:moveTo>
                    <a:pt x="9557439" y="2672429"/>
                  </a:moveTo>
                  <a:lnTo>
                    <a:pt x="138486" y="2672429"/>
                  </a:lnTo>
                  <a:lnTo>
                    <a:pt x="94734" y="2663822"/>
                  </a:lnTo>
                  <a:lnTo>
                    <a:pt x="56721" y="2639857"/>
                  </a:lnTo>
                  <a:lnTo>
                    <a:pt x="26735" y="2603318"/>
                  </a:lnTo>
                  <a:lnTo>
                    <a:pt x="7065" y="2556991"/>
                  </a:lnTo>
                  <a:lnTo>
                    <a:pt x="0" y="2503659"/>
                  </a:lnTo>
                  <a:lnTo>
                    <a:pt x="0" y="168770"/>
                  </a:lnTo>
                  <a:lnTo>
                    <a:pt x="7056" y="115438"/>
                  </a:lnTo>
                  <a:lnTo>
                    <a:pt x="26708" y="69111"/>
                  </a:lnTo>
                  <a:lnTo>
                    <a:pt x="56680" y="32572"/>
                  </a:lnTo>
                  <a:lnTo>
                    <a:pt x="94698" y="8607"/>
                  </a:lnTo>
                  <a:lnTo>
                    <a:pt x="138486" y="0"/>
                  </a:lnTo>
                  <a:lnTo>
                    <a:pt x="9557439" y="0"/>
                  </a:lnTo>
                  <a:lnTo>
                    <a:pt x="9601190" y="8607"/>
                  </a:lnTo>
                  <a:lnTo>
                    <a:pt x="9639204" y="32572"/>
                  </a:lnTo>
                  <a:lnTo>
                    <a:pt x="9669190" y="69111"/>
                  </a:lnTo>
                  <a:lnTo>
                    <a:pt x="9688860" y="115438"/>
                  </a:lnTo>
                  <a:lnTo>
                    <a:pt x="9695925" y="168770"/>
                  </a:lnTo>
                  <a:lnTo>
                    <a:pt x="9695925" y="2503659"/>
                  </a:lnTo>
                  <a:lnTo>
                    <a:pt x="9688869" y="2556991"/>
                  </a:lnTo>
                  <a:lnTo>
                    <a:pt x="9669217" y="2603318"/>
                  </a:lnTo>
                  <a:lnTo>
                    <a:pt x="9639245" y="2639857"/>
                  </a:lnTo>
                  <a:lnTo>
                    <a:pt x="9601227" y="2663822"/>
                  </a:lnTo>
                  <a:lnTo>
                    <a:pt x="9557439" y="2672429"/>
                  </a:lnTo>
                  <a:close/>
                </a:path>
              </a:pathLst>
            </a:custGeom>
            <a:solidFill>
              <a:srgbClr val="FAF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81645" y="1913272"/>
              <a:ext cx="9725025" cy="2707640"/>
            </a:xfrm>
            <a:custGeom>
              <a:avLst/>
              <a:gdLst/>
              <a:ahLst/>
              <a:cxnLst/>
              <a:rect l="l" t="t" r="r" b="b"/>
              <a:pathLst>
                <a:path w="9725025" h="2707640">
                  <a:moveTo>
                    <a:pt x="152762" y="2707544"/>
                  </a:moveTo>
                  <a:lnTo>
                    <a:pt x="112248" y="2700940"/>
                  </a:lnTo>
                  <a:lnTo>
                    <a:pt x="75771" y="2682190"/>
                  </a:lnTo>
                  <a:lnTo>
                    <a:pt x="44840" y="2653087"/>
                  </a:lnTo>
                  <a:lnTo>
                    <a:pt x="20919" y="2615389"/>
                  </a:lnTo>
                  <a:lnTo>
                    <a:pt x="5480" y="2570854"/>
                  </a:lnTo>
                  <a:lnTo>
                    <a:pt x="0" y="2521239"/>
                  </a:lnTo>
                  <a:lnTo>
                    <a:pt x="0" y="186350"/>
                  </a:lnTo>
                  <a:lnTo>
                    <a:pt x="5466" y="136735"/>
                  </a:lnTo>
                  <a:lnTo>
                    <a:pt x="20886" y="92198"/>
                  </a:lnTo>
                  <a:lnTo>
                    <a:pt x="44793" y="54498"/>
                  </a:lnTo>
                  <a:lnTo>
                    <a:pt x="75720" y="25393"/>
                  </a:lnTo>
                  <a:lnTo>
                    <a:pt x="112199" y="6641"/>
                  </a:lnTo>
                  <a:lnTo>
                    <a:pt x="152762" y="0"/>
                  </a:lnTo>
                  <a:lnTo>
                    <a:pt x="9571716" y="0"/>
                  </a:lnTo>
                  <a:lnTo>
                    <a:pt x="9571716" y="17580"/>
                  </a:lnTo>
                  <a:lnTo>
                    <a:pt x="152762" y="17580"/>
                  </a:lnTo>
                  <a:lnTo>
                    <a:pt x="152762" y="35160"/>
                  </a:lnTo>
                  <a:lnTo>
                    <a:pt x="113456" y="42884"/>
                  </a:lnTo>
                  <a:lnTo>
                    <a:pt x="79354" y="64380"/>
                  </a:lnTo>
                  <a:lnTo>
                    <a:pt x="52484" y="97132"/>
                  </a:lnTo>
                  <a:lnTo>
                    <a:pt x="34874" y="138627"/>
                  </a:lnTo>
                  <a:lnTo>
                    <a:pt x="28553" y="186350"/>
                  </a:lnTo>
                  <a:lnTo>
                    <a:pt x="28553" y="2521239"/>
                  </a:lnTo>
                  <a:lnTo>
                    <a:pt x="34874" y="2568962"/>
                  </a:lnTo>
                  <a:lnTo>
                    <a:pt x="52484" y="2610457"/>
                  </a:lnTo>
                  <a:lnTo>
                    <a:pt x="79354" y="2643210"/>
                  </a:lnTo>
                  <a:lnTo>
                    <a:pt x="113456" y="2664705"/>
                  </a:lnTo>
                  <a:lnTo>
                    <a:pt x="152762" y="2672430"/>
                  </a:lnTo>
                  <a:lnTo>
                    <a:pt x="9659130" y="2672430"/>
                  </a:lnTo>
                  <a:lnTo>
                    <a:pt x="9648759" y="2682190"/>
                  </a:lnTo>
                  <a:lnTo>
                    <a:pt x="9633545" y="2690010"/>
                  </a:lnTo>
                  <a:lnTo>
                    <a:pt x="152762" y="2690010"/>
                  </a:lnTo>
                  <a:lnTo>
                    <a:pt x="152762" y="2707544"/>
                  </a:lnTo>
                  <a:close/>
                </a:path>
                <a:path w="9725025" h="2707640">
                  <a:moveTo>
                    <a:pt x="9659130" y="2672430"/>
                  </a:moveTo>
                  <a:lnTo>
                    <a:pt x="9571716" y="2672430"/>
                  </a:lnTo>
                  <a:lnTo>
                    <a:pt x="9611022" y="2664705"/>
                  </a:lnTo>
                  <a:lnTo>
                    <a:pt x="9645125" y="2643210"/>
                  </a:lnTo>
                  <a:lnTo>
                    <a:pt x="9671995" y="2610457"/>
                  </a:lnTo>
                  <a:lnTo>
                    <a:pt x="9689605" y="2568962"/>
                  </a:lnTo>
                  <a:lnTo>
                    <a:pt x="9695926" y="2521239"/>
                  </a:lnTo>
                  <a:lnTo>
                    <a:pt x="9695926" y="186350"/>
                  </a:lnTo>
                  <a:lnTo>
                    <a:pt x="9689605" y="138627"/>
                  </a:lnTo>
                  <a:lnTo>
                    <a:pt x="9671995" y="97132"/>
                  </a:lnTo>
                  <a:lnTo>
                    <a:pt x="9645125" y="64380"/>
                  </a:lnTo>
                  <a:lnTo>
                    <a:pt x="9611022" y="42884"/>
                  </a:lnTo>
                  <a:lnTo>
                    <a:pt x="9571716" y="35160"/>
                  </a:lnTo>
                  <a:lnTo>
                    <a:pt x="152762" y="35160"/>
                  </a:lnTo>
                  <a:lnTo>
                    <a:pt x="152762" y="17580"/>
                  </a:lnTo>
                  <a:lnTo>
                    <a:pt x="9571716" y="17580"/>
                  </a:lnTo>
                  <a:lnTo>
                    <a:pt x="9571716" y="0"/>
                  </a:lnTo>
                  <a:lnTo>
                    <a:pt x="9612280" y="6641"/>
                  </a:lnTo>
                  <a:lnTo>
                    <a:pt x="9648759" y="25393"/>
                  </a:lnTo>
                  <a:lnTo>
                    <a:pt x="9679685" y="54498"/>
                  </a:lnTo>
                  <a:lnTo>
                    <a:pt x="9703593" y="92198"/>
                  </a:lnTo>
                  <a:lnTo>
                    <a:pt x="9719013" y="136735"/>
                  </a:lnTo>
                  <a:lnTo>
                    <a:pt x="9724479" y="186350"/>
                  </a:lnTo>
                  <a:lnTo>
                    <a:pt x="9724479" y="2521239"/>
                  </a:lnTo>
                  <a:lnTo>
                    <a:pt x="9719013" y="2570854"/>
                  </a:lnTo>
                  <a:lnTo>
                    <a:pt x="9703593" y="2615389"/>
                  </a:lnTo>
                  <a:lnTo>
                    <a:pt x="9679685" y="2653087"/>
                  </a:lnTo>
                  <a:lnTo>
                    <a:pt x="9659130" y="2672430"/>
                  </a:lnTo>
                  <a:close/>
                </a:path>
                <a:path w="9725025" h="2707640">
                  <a:moveTo>
                    <a:pt x="9571716" y="2707544"/>
                  </a:moveTo>
                  <a:lnTo>
                    <a:pt x="152769" y="2707544"/>
                  </a:lnTo>
                  <a:lnTo>
                    <a:pt x="152762" y="2690010"/>
                  </a:lnTo>
                  <a:lnTo>
                    <a:pt x="9571716" y="2690010"/>
                  </a:lnTo>
                  <a:lnTo>
                    <a:pt x="9571716" y="2707544"/>
                  </a:lnTo>
                  <a:close/>
                </a:path>
                <a:path w="9725025" h="2707640">
                  <a:moveTo>
                    <a:pt x="9571943" y="2707544"/>
                  </a:moveTo>
                  <a:lnTo>
                    <a:pt x="9571716" y="2707544"/>
                  </a:lnTo>
                  <a:lnTo>
                    <a:pt x="9571716" y="2690010"/>
                  </a:lnTo>
                  <a:lnTo>
                    <a:pt x="9633545" y="2690010"/>
                  </a:lnTo>
                  <a:lnTo>
                    <a:pt x="9612280" y="2700940"/>
                  </a:lnTo>
                  <a:lnTo>
                    <a:pt x="9571943" y="2707544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17282" y="1913272"/>
              <a:ext cx="122555" cy="2707640"/>
            </a:xfrm>
            <a:custGeom>
              <a:avLst/>
              <a:gdLst/>
              <a:ahLst/>
              <a:cxnLst/>
              <a:rect l="l" t="t" r="r" b="b"/>
              <a:pathLst>
                <a:path w="122555" h="2707640">
                  <a:moveTo>
                    <a:pt x="60992" y="2707591"/>
                  </a:moveTo>
                  <a:lnTo>
                    <a:pt x="37267" y="2701986"/>
                  </a:lnTo>
                  <a:lnTo>
                    <a:pt x="17878" y="2686707"/>
                  </a:lnTo>
                  <a:lnTo>
                    <a:pt x="4798" y="2664058"/>
                  </a:lnTo>
                  <a:lnTo>
                    <a:pt x="0" y="2636345"/>
                  </a:lnTo>
                  <a:lnTo>
                    <a:pt x="0" y="71246"/>
                  </a:lnTo>
                  <a:lnTo>
                    <a:pt x="4798" y="43532"/>
                  </a:lnTo>
                  <a:lnTo>
                    <a:pt x="17878" y="20884"/>
                  </a:lnTo>
                  <a:lnTo>
                    <a:pt x="37267" y="5605"/>
                  </a:lnTo>
                  <a:lnTo>
                    <a:pt x="60992" y="0"/>
                  </a:lnTo>
                  <a:lnTo>
                    <a:pt x="84718" y="5605"/>
                  </a:lnTo>
                  <a:lnTo>
                    <a:pt x="104107" y="20884"/>
                  </a:lnTo>
                  <a:lnTo>
                    <a:pt x="117187" y="43532"/>
                  </a:lnTo>
                  <a:lnTo>
                    <a:pt x="121985" y="71246"/>
                  </a:lnTo>
                  <a:lnTo>
                    <a:pt x="121985" y="2636345"/>
                  </a:lnTo>
                  <a:lnTo>
                    <a:pt x="117187" y="2664058"/>
                  </a:lnTo>
                  <a:lnTo>
                    <a:pt x="104107" y="2686707"/>
                  </a:lnTo>
                  <a:lnTo>
                    <a:pt x="84718" y="2701986"/>
                  </a:lnTo>
                  <a:lnTo>
                    <a:pt x="60992" y="2707591"/>
                  </a:lnTo>
                  <a:close/>
                </a:path>
              </a:pathLst>
            </a:custGeom>
            <a:solidFill>
              <a:srgbClr val="4289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009596" y="4743668"/>
            <a:ext cx="9792970" cy="2534920"/>
            <a:chOff x="2009596" y="4743668"/>
            <a:chExt cx="9792970" cy="2534920"/>
          </a:xfrm>
        </p:grpSpPr>
        <p:sp>
          <p:nvSpPr>
            <p:cNvPr id="8" name="object 8"/>
            <p:cNvSpPr/>
            <p:nvPr/>
          </p:nvSpPr>
          <p:spPr>
            <a:xfrm>
              <a:off x="2153460" y="4760124"/>
              <a:ext cx="9638665" cy="2501900"/>
            </a:xfrm>
            <a:custGeom>
              <a:avLst/>
              <a:gdLst/>
              <a:ahLst/>
              <a:cxnLst/>
              <a:rect l="l" t="t" r="r" b="b"/>
              <a:pathLst>
                <a:path w="9638665" h="2501900">
                  <a:moveTo>
                    <a:pt x="9500806" y="2501459"/>
                  </a:moveTo>
                  <a:lnTo>
                    <a:pt x="137665" y="2501459"/>
                  </a:lnTo>
                  <a:lnTo>
                    <a:pt x="94173" y="2493402"/>
                  </a:lnTo>
                  <a:lnTo>
                    <a:pt x="56385" y="2470970"/>
                  </a:lnTo>
                  <a:lnTo>
                    <a:pt x="26577" y="2436769"/>
                  </a:lnTo>
                  <a:lnTo>
                    <a:pt x="7023" y="2393405"/>
                  </a:lnTo>
                  <a:lnTo>
                    <a:pt x="0" y="2343486"/>
                  </a:lnTo>
                  <a:lnTo>
                    <a:pt x="0" y="157972"/>
                  </a:lnTo>
                  <a:lnTo>
                    <a:pt x="7014" y="108053"/>
                  </a:lnTo>
                  <a:lnTo>
                    <a:pt x="26549" y="64689"/>
                  </a:lnTo>
                  <a:lnTo>
                    <a:pt x="56344" y="30488"/>
                  </a:lnTo>
                  <a:lnTo>
                    <a:pt x="94137" y="8056"/>
                  </a:lnTo>
                  <a:lnTo>
                    <a:pt x="137665" y="0"/>
                  </a:lnTo>
                  <a:lnTo>
                    <a:pt x="9500806" y="0"/>
                  </a:lnTo>
                  <a:lnTo>
                    <a:pt x="9544298" y="8056"/>
                  </a:lnTo>
                  <a:lnTo>
                    <a:pt x="9582086" y="30488"/>
                  </a:lnTo>
                  <a:lnTo>
                    <a:pt x="9611894" y="64689"/>
                  </a:lnTo>
                  <a:lnTo>
                    <a:pt x="9631448" y="108053"/>
                  </a:lnTo>
                  <a:lnTo>
                    <a:pt x="9638471" y="157972"/>
                  </a:lnTo>
                  <a:lnTo>
                    <a:pt x="9638471" y="2343486"/>
                  </a:lnTo>
                  <a:lnTo>
                    <a:pt x="9631457" y="2393405"/>
                  </a:lnTo>
                  <a:lnTo>
                    <a:pt x="9611921" y="2436769"/>
                  </a:lnTo>
                  <a:lnTo>
                    <a:pt x="9582127" y="2470970"/>
                  </a:lnTo>
                  <a:lnTo>
                    <a:pt x="9544334" y="2493402"/>
                  </a:lnTo>
                  <a:lnTo>
                    <a:pt x="9500806" y="2501459"/>
                  </a:lnTo>
                  <a:close/>
                </a:path>
              </a:pathLst>
            </a:custGeom>
            <a:solidFill>
              <a:srgbClr val="FAF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39267" y="4743668"/>
              <a:ext cx="9662795" cy="2534920"/>
            </a:xfrm>
            <a:custGeom>
              <a:avLst/>
              <a:gdLst/>
              <a:ahLst/>
              <a:cxnLst/>
              <a:rect l="l" t="t" r="r" b="b"/>
              <a:pathLst>
                <a:path w="9662795" h="2534920">
                  <a:moveTo>
                    <a:pt x="151857" y="2534327"/>
                  </a:moveTo>
                  <a:lnTo>
                    <a:pt x="111584" y="2528148"/>
                  </a:lnTo>
                  <a:lnTo>
                    <a:pt x="75322" y="2510597"/>
                  </a:lnTo>
                  <a:lnTo>
                    <a:pt x="44574" y="2483355"/>
                  </a:lnTo>
                  <a:lnTo>
                    <a:pt x="20795" y="2448068"/>
                  </a:lnTo>
                  <a:lnTo>
                    <a:pt x="5447" y="2406382"/>
                  </a:lnTo>
                  <a:lnTo>
                    <a:pt x="0" y="2359942"/>
                  </a:lnTo>
                  <a:lnTo>
                    <a:pt x="0" y="174428"/>
                  </a:lnTo>
                  <a:lnTo>
                    <a:pt x="5433" y="127987"/>
                  </a:lnTo>
                  <a:lnTo>
                    <a:pt x="20762" y="86300"/>
                  </a:lnTo>
                  <a:lnTo>
                    <a:pt x="44528" y="51012"/>
                  </a:lnTo>
                  <a:lnTo>
                    <a:pt x="75271" y="23769"/>
                  </a:lnTo>
                  <a:lnTo>
                    <a:pt x="111534" y="6216"/>
                  </a:lnTo>
                  <a:lnTo>
                    <a:pt x="151857" y="0"/>
                  </a:lnTo>
                  <a:lnTo>
                    <a:pt x="9514998" y="0"/>
                  </a:lnTo>
                  <a:lnTo>
                    <a:pt x="9514998" y="16455"/>
                  </a:lnTo>
                  <a:lnTo>
                    <a:pt x="151857" y="16455"/>
                  </a:lnTo>
                  <a:lnTo>
                    <a:pt x="151857" y="32911"/>
                  </a:lnTo>
                  <a:lnTo>
                    <a:pt x="112784" y="40141"/>
                  </a:lnTo>
                  <a:lnTo>
                    <a:pt x="78884" y="60261"/>
                  </a:lnTo>
                  <a:lnTo>
                    <a:pt x="52173" y="90918"/>
                  </a:lnTo>
                  <a:lnTo>
                    <a:pt x="34667" y="129759"/>
                  </a:lnTo>
                  <a:lnTo>
                    <a:pt x="28384" y="174428"/>
                  </a:lnTo>
                  <a:lnTo>
                    <a:pt x="28384" y="2359942"/>
                  </a:lnTo>
                  <a:lnTo>
                    <a:pt x="34667" y="2404611"/>
                  </a:lnTo>
                  <a:lnTo>
                    <a:pt x="52173" y="2443451"/>
                  </a:lnTo>
                  <a:lnTo>
                    <a:pt x="78884" y="2474108"/>
                  </a:lnTo>
                  <a:lnTo>
                    <a:pt x="112784" y="2494229"/>
                  </a:lnTo>
                  <a:lnTo>
                    <a:pt x="151857" y="2501458"/>
                  </a:lnTo>
                  <a:lnTo>
                    <a:pt x="9601897" y="2501458"/>
                  </a:lnTo>
                  <a:lnTo>
                    <a:pt x="9591584" y="2510597"/>
                  </a:lnTo>
                  <a:lnTo>
                    <a:pt x="9576466" y="2517914"/>
                  </a:lnTo>
                  <a:lnTo>
                    <a:pt x="151857" y="2517914"/>
                  </a:lnTo>
                  <a:lnTo>
                    <a:pt x="151857" y="2534327"/>
                  </a:lnTo>
                  <a:close/>
                </a:path>
                <a:path w="9662795" h="2534920">
                  <a:moveTo>
                    <a:pt x="9601897" y="2501458"/>
                  </a:moveTo>
                  <a:lnTo>
                    <a:pt x="9514998" y="2501458"/>
                  </a:lnTo>
                  <a:lnTo>
                    <a:pt x="9554071" y="2494229"/>
                  </a:lnTo>
                  <a:lnTo>
                    <a:pt x="9587972" y="2474108"/>
                  </a:lnTo>
                  <a:lnTo>
                    <a:pt x="9614683" y="2443451"/>
                  </a:lnTo>
                  <a:lnTo>
                    <a:pt x="9632188" y="2404611"/>
                  </a:lnTo>
                  <a:lnTo>
                    <a:pt x="9638471" y="2359942"/>
                  </a:lnTo>
                  <a:lnTo>
                    <a:pt x="9638471" y="174428"/>
                  </a:lnTo>
                  <a:lnTo>
                    <a:pt x="9632188" y="129759"/>
                  </a:lnTo>
                  <a:lnTo>
                    <a:pt x="9614683" y="90918"/>
                  </a:lnTo>
                  <a:lnTo>
                    <a:pt x="9587972" y="60261"/>
                  </a:lnTo>
                  <a:lnTo>
                    <a:pt x="9554071" y="40141"/>
                  </a:lnTo>
                  <a:lnTo>
                    <a:pt x="9514998" y="32911"/>
                  </a:lnTo>
                  <a:lnTo>
                    <a:pt x="151857" y="32911"/>
                  </a:lnTo>
                  <a:lnTo>
                    <a:pt x="151857" y="16455"/>
                  </a:lnTo>
                  <a:lnTo>
                    <a:pt x="9514998" y="16455"/>
                  </a:lnTo>
                  <a:lnTo>
                    <a:pt x="9514998" y="0"/>
                  </a:lnTo>
                  <a:lnTo>
                    <a:pt x="9555322" y="6216"/>
                  </a:lnTo>
                  <a:lnTo>
                    <a:pt x="9591584" y="23769"/>
                  </a:lnTo>
                  <a:lnTo>
                    <a:pt x="9622328" y="51012"/>
                  </a:lnTo>
                  <a:lnTo>
                    <a:pt x="9646093" y="86300"/>
                  </a:lnTo>
                  <a:lnTo>
                    <a:pt x="9661423" y="127987"/>
                  </a:lnTo>
                  <a:lnTo>
                    <a:pt x="9662712" y="139004"/>
                  </a:lnTo>
                  <a:lnTo>
                    <a:pt x="9662712" y="2395365"/>
                  </a:lnTo>
                  <a:lnTo>
                    <a:pt x="9661423" y="2406382"/>
                  </a:lnTo>
                  <a:lnTo>
                    <a:pt x="9646093" y="2448068"/>
                  </a:lnTo>
                  <a:lnTo>
                    <a:pt x="9622328" y="2483355"/>
                  </a:lnTo>
                  <a:lnTo>
                    <a:pt x="9601897" y="2501458"/>
                  </a:lnTo>
                  <a:close/>
                </a:path>
                <a:path w="9662795" h="2534920">
                  <a:moveTo>
                    <a:pt x="9514998" y="2534327"/>
                  </a:moveTo>
                  <a:lnTo>
                    <a:pt x="151863" y="2534327"/>
                  </a:lnTo>
                  <a:lnTo>
                    <a:pt x="151857" y="2517914"/>
                  </a:lnTo>
                  <a:lnTo>
                    <a:pt x="9514998" y="2517914"/>
                  </a:lnTo>
                  <a:lnTo>
                    <a:pt x="9514998" y="2534327"/>
                  </a:lnTo>
                  <a:close/>
                </a:path>
                <a:path w="9662795" h="2534920">
                  <a:moveTo>
                    <a:pt x="9515243" y="2534327"/>
                  </a:moveTo>
                  <a:lnTo>
                    <a:pt x="9514998" y="2534327"/>
                  </a:lnTo>
                  <a:lnTo>
                    <a:pt x="9514998" y="2517914"/>
                  </a:lnTo>
                  <a:lnTo>
                    <a:pt x="9576466" y="2517914"/>
                  </a:lnTo>
                  <a:lnTo>
                    <a:pt x="9555322" y="2528148"/>
                  </a:lnTo>
                  <a:lnTo>
                    <a:pt x="9515243" y="2534327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09596" y="4743668"/>
              <a:ext cx="130175" cy="2463800"/>
            </a:xfrm>
            <a:custGeom>
              <a:avLst/>
              <a:gdLst/>
              <a:ahLst/>
              <a:cxnLst/>
              <a:rect l="l" t="t" r="r" b="b"/>
              <a:pathLst>
                <a:path w="130175" h="2463800">
                  <a:moveTo>
                    <a:pt x="65906" y="2463754"/>
                  </a:moveTo>
                  <a:lnTo>
                    <a:pt x="63764" y="2463754"/>
                  </a:lnTo>
                  <a:lnTo>
                    <a:pt x="39615" y="2458869"/>
                  </a:lnTo>
                  <a:lnTo>
                    <a:pt x="19004" y="2444965"/>
                  </a:lnTo>
                  <a:lnTo>
                    <a:pt x="5100" y="2424354"/>
                  </a:lnTo>
                  <a:lnTo>
                    <a:pt x="0" y="2399134"/>
                  </a:lnTo>
                  <a:lnTo>
                    <a:pt x="0" y="64835"/>
                  </a:lnTo>
                  <a:lnTo>
                    <a:pt x="5100" y="39615"/>
                  </a:lnTo>
                  <a:lnTo>
                    <a:pt x="19004" y="19005"/>
                  </a:lnTo>
                  <a:lnTo>
                    <a:pt x="39615" y="5100"/>
                  </a:lnTo>
                  <a:lnTo>
                    <a:pt x="64835" y="0"/>
                  </a:lnTo>
                  <a:lnTo>
                    <a:pt x="90055" y="5100"/>
                  </a:lnTo>
                  <a:lnTo>
                    <a:pt x="110666" y="19005"/>
                  </a:lnTo>
                  <a:lnTo>
                    <a:pt x="124570" y="39615"/>
                  </a:lnTo>
                  <a:lnTo>
                    <a:pt x="129671" y="64835"/>
                  </a:lnTo>
                  <a:lnTo>
                    <a:pt x="129671" y="2399134"/>
                  </a:lnTo>
                  <a:lnTo>
                    <a:pt x="124570" y="2424354"/>
                  </a:lnTo>
                  <a:lnTo>
                    <a:pt x="110666" y="2444965"/>
                  </a:lnTo>
                  <a:lnTo>
                    <a:pt x="90055" y="2458869"/>
                  </a:lnTo>
                  <a:lnTo>
                    <a:pt x="65906" y="2463754"/>
                  </a:lnTo>
                  <a:close/>
                </a:path>
              </a:pathLst>
            </a:custGeom>
            <a:solidFill>
              <a:srgbClr val="4289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987853" y="7497069"/>
            <a:ext cx="9818370" cy="2491105"/>
            <a:chOff x="1987853" y="7497069"/>
            <a:chExt cx="9818370" cy="2491105"/>
          </a:xfrm>
        </p:grpSpPr>
        <p:sp>
          <p:nvSpPr>
            <p:cNvPr id="12" name="object 12"/>
            <p:cNvSpPr/>
            <p:nvPr/>
          </p:nvSpPr>
          <p:spPr>
            <a:xfrm>
              <a:off x="2088719" y="7513243"/>
              <a:ext cx="9703435" cy="2458720"/>
            </a:xfrm>
            <a:custGeom>
              <a:avLst/>
              <a:gdLst/>
              <a:ahLst/>
              <a:cxnLst/>
              <a:rect l="l" t="t" r="r" b="b"/>
              <a:pathLst>
                <a:path w="9703435" h="2458720">
                  <a:moveTo>
                    <a:pt x="9564529" y="2458580"/>
                  </a:moveTo>
                  <a:lnTo>
                    <a:pt x="138588" y="2458580"/>
                  </a:lnTo>
                  <a:lnTo>
                    <a:pt x="94804" y="2450662"/>
                  </a:lnTo>
                  <a:lnTo>
                    <a:pt x="56763" y="2428614"/>
                  </a:lnTo>
                  <a:lnTo>
                    <a:pt x="26755" y="2395000"/>
                  </a:lnTo>
                  <a:lnTo>
                    <a:pt x="7070" y="2352379"/>
                  </a:lnTo>
                  <a:lnTo>
                    <a:pt x="0" y="2303315"/>
                  </a:lnTo>
                  <a:lnTo>
                    <a:pt x="0" y="155265"/>
                  </a:lnTo>
                  <a:lnTo>
                    <a:pt x="7061" y="106201"/>
                  </a:lnTo>
                  <a:lnTo>
                    <a:pt x="26727" y="63581"/>
                  </a:lnTo>
                  <a:lnTo>
                    <a:pt x="56722" y="29966"/>
                  </a:lnTo>
                  <a:lnTo>
                    <a:pt x="94768" y="7918"/>
                  </a:lnTo>
                  <a:lnTo>
                    <a:pt x="138588" y="0"/>
                  </a:lnTo>
                  <a:lnTo>
                    <a:pt x="9564529" y="0"/>
                  </a:lnTo>
                  <a:lnTo>
                    <a:pt x="9608313" y="7918"/>
                  </a:lnTo>
                  <a:lnTo>
                    <a:pt x="9646354" y="29966"/>
                  </a:lnTo>
                  <a:lnTo>
                    <a:pt x="9676361" y="63581"/>
                  </a:lnTo>
                  <a:lnTo>
                    <a:pt x="9696046" y="106201"/>
                  </a:lnTo>
                  <a:lnTo>
                    <a:pt x="9703116" y="155265"/>
                  </a:lnTo>
                  <a:lnTo>
                    <a:pt x="9703116" y="2303315"/>
                  </a:lnTo>
                  <a:lnTo>
                    <a:pt x="9696055" y="2352379"/>
                  </a:lnTo>
                  <a:lnTo>
                    <a:pt x="9676389" y="2395000"/>
                  </a:lnTo>
                  <a:lnTo>
                    <a:pt x="9646395" y="2428614"/>
                  </a:lnTo>
                  <a:lnTo>
                    <a:pt x="9608349" y="2450662"/>
                  </a:lnTo>
                  <a:lnTo>
                    <a:pt x="9564529" y="2458580"/>
                  </a:lnTo>
                  <a:close/>
                </a:path>
              </a:pathLst>
            </a:custGeom>
            <a:solidFill>
              <a:srgbClr val="FAF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074432" y="7497069"/>
              <a:ext cx="9732010" cy="2491105"/>
            </a:xfrm>
            <a:custGeom>
              <a:avLst/>
              <a:gdLst/>
              <a:ahLst/>
              <a:cxnLst/>
              <a:rect l="l" t="t" r="r" b="b"/>
              <a:pathLst>
                <a:path w="9732010" h="2491104">
                  <a:moveTo>
                    <a:pt x="152876" y="2490885"/>
                  </a:moveTo>
                  <a:lnTo>
                    <a:pt x="112332" y="2484813"/>
                  </a:lnTo>
                  <a:lnTo>
                    <a:pt x="75827" y="2467562"/>
                  </a:lnTo>
                  <a:lnTo>
                    <a:pt x="44873" y="2440787"/>
                  </a:lnTo>
                  <a:lnTo>
                    <a:pt x="20935" y="2406105"/>
                  </a:lnTo>
                  <a:lnTo>
                    <a:pt x="5484" y="2365134"/>
                  </a:lnTo>
                  <a:lnTo>
                    <a:pt x="0" y="2319489"/>
                  </a:lnTo>
                  <a:lnTo>
                    <a:pt x="0" y="171438"/>
                  </a:lnTo>
                  <a:lnTo>
                    <a:pt x="5470" y="125793"/>
                  </a:lnTo>
                  <a:lnTo>
                    <a:pt x="20902" y="84820"/>
                  </a:lnTo>
                  <a:lnTo>
                    <a:pt x="44827" y="50137"/>
                  </a:lnTo>
                  <a:lnTo>
                    <a:pt x="75776" y="23361"/>
                  </a:lnTo>
                  <a:lnTo>
                    <a:pt x="112282" y="6110"/>
                  </a:lnTo>
                  <a:lnTo>
                    <a:pt x="152876" y="0"/>
                  </a:lnTo>
                  <a:lnTo>
                    <a:pt x="9578816" y="0"/>
                  </a:lnTo>
                  <a:lnTo>
                    <a:pt x="9578816" y="16173"/>
                  </a:lnTo>
                  <a:lnTo>
                    <a:pt x="152876" y="16173"/>
                  </a:lnTo>
                  <a:lnTo>
                    <a:pt x="152876" y="32347"/>
                  </a:lnTo>
                  <a:lnTo>
                    <a:pt x="113541" y="39453"/>
                  </a:lnTo>
                  <a:lnTo>
                    <a:pt x="79413" y="59228"/>
                  </a:lnTo>
                  <a:lnTo>
                    <a:pt x="52523" y="89360"/>
                  </a:lnTo>
                  <a:lnTo>
                    <a:pt x="34900" y="127535"/>
                  </a:lnTo>
                  <a:lnTo>
                    <a:pt x="28575" y="171438"/>
                  </a:lnTo>
                  <a:lnTo>
                    <a:pt x="28575" y="2319489"/>
                  </a:lnTo>
                  <a:lnTo>
                    <a:pt x="34900" y="2363393"/>
                  </a:lnTo>
                  <a:lnTo>
                    <a:pt x="52523" y="2401567"/>
                  </a:lnTo>
                  <a:lnTo>
                    <a:pt x="79413" y="2431699"/>
                  </a:lnTo>
                  <a:lnTo>
                    <a:pt x="113541" y="2451475"/>
                  </a:lnTo>
                  <a:lnTo>
                    <a:pt x="152876" y="2458581"/>
                  </a:lnTo>
                  <a:lnTo>
                    <a:pt x="9666297" y="2458581"/>
                  </a:lnTo>
                  <a:lnTo>
                    <a:pt x="9655915" y="2467562"/>
                  </a:lnTo>
                  <a:lnTo>
                    <a:pt x="9640697" y="2474754"/>
                  </a:lnTo>
                  <a:lnTo>
                    <a:pt x="152876" y="2474754"/>
                  </a:lnTo>
                  <a:lnTo>
                    <a:pt x="152876" y="2490885"/>
                  </a:lnTo>
                  <a:close/>
                </a:path>
                <a:path w="9732010" h="2491104">
                  <a:moveTo>
                    <a:pt x="9666297" y="2458581"/>
                  </a:moveTo>
                  <a:lnTo>
                    <a:pt x="9578816" y="2458581"/>
                  </a:lnTo>
                  <a:lnTo>
                    <a:pt x="9618151" y="2451475"/>
                  </a:lnTo>
                  <a:lnTo>
                    <a:pt x="9652279" y="2431699"/>
                  </a:lnTo>
                  <a:lnTo>
                    <a:pt x="9679168" y="2401567"/>
                  </a:lnTo>
                  <a:lnTo>
                    <a:pt x="9696791" y="2363393"/>
                  </a:lnTo>
                  <a:lnTo>
                    <a:pt x="9703116" y="2319489"/>
                  </a:lnTo>
                  <a:lnTo>
                    <a:pt x="9703116" y="171438"/>
                  </a:lnTo>
                  <a:lnTo>
                    <a:pt x="9696791" y="127535"/>
                  </a:lnTo>
                  <a:lnTo>
                    <a:pt x="9679168" y="89360"/>
                  </a:lnTo>
                  <a:lnTo>
                    <a:pt x="9652279" y="59228"/>
                  </a:lnTo>
                  <a:lnTo>
                    <a:pt x="9618151" y="39453"/>
                  </a:lnTo>
                  <a:lnTo>
                    <a:pt x="9578816" y="32347"/>
                  </a:lnTo>
                  <a:lnTo>
                    <a:pt x="152876" y="32347"/>
                  </a:lnTo>
                  <a:lnTo>
                    <a:pt x="152876" y="16173"/>
                  </a:lnTo>
                  <a:lnTo>
                    <a:pt x="9578816" y="16173"/>
                  </a:lnTo>
                  <a:lnTo>
                    <a:pt x="9578816" y="0"/>
                  </a:lnTo>
                  <a:lnTo>
                    <a:pt x="9619410" y="6110"/>
                  </a:lnTo>
                  <a:lnTo>
                    <a:pt x="9655915" y="23361"/>
                  </a:lnTo>
                  <a:lnTo>
                    <a:pt x="9686865" y="50137"/>
                  </a:lnTo>
                  <a:lnTo>
                    <a:pt x="9710789" y="84820"/>
                  </a:lnTo>
                  <a:lnTo>
                    <a:pt x="9726221" y="125793"/>
                  </a:lnTo>
                  <a:lnTo>
                    <a:pt x="9731691" y="171438"/>
                  </a:lnTo>
                  <a:lnTo>
                    <a:pt x="9731691" y="2319489"/>
                  </a:lnTo>
                  <a:lnTo>
                    <a:pt x="9726221" y="2365134"/>
                  </a:lnTo>
                  <a:lnTo>
                    <a:pt x="9710789" y="2406105"/>
                  </a:lnTo>
                  <a:lnTo>
                    <a:pt x="9686865" y="2440787"/>
                  </a:lnTo>
                  <a:lnTo>
                    <a:pt x="9666297" y="2458581"/>
                  </a:lnTo>
                  <a:close/>
                </a:path>
                <a:path w="9732010" h="2491104">
                  <a:moveTo>
                    <a:pt x="9578816" y="2490885"/>
                  </a:moveTo>
                  <a:lnTo>
                    <a:pt x="152881" y="2490885"/>
                  </a:lnTo>
                  <a:lnTo>
                    <a:pt x="152876" y="2474754"/>
                  </a:lnTo>
                  <a:lnTo>
                    <a:pt x="9578816" y="2474754"/>
                  </a:lnTo>
                  <a:lnTo>
                    <a:pt x="9578816" y="2490885"/>
                  </a:lnTo>
                  <a:close/>
                </a:path>
                <a:path w="9732010" h="2491104">
                  <a:moveTo>
                    <a:pt x="9579063" y="2490885"/>
                  </a:moveTo>
                  <a:lnTo>
                    <a:pt x="9578816" y="2490885"/>
                  </a:lnTo>
                  <a:lnTo>
                    <a:pt x="9578816" y="2474754"/>
                  </a:lnTo>
                  <a:lnTo>
                    <a:pt x="9640697" y="2474754"/>
                  </a:lnTo>
                  <a:lnTo>
                    <a:pt x="9619410" y="2484813"/>
                  </a:lnTo>
                  <a:lnTo>
                    <a:pt x="9579063" y="2490885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87853" y="7497069"/>
              <a:ext cx="131445" cy="2491105"/>
            </a:xfrm>
            <a:custGeom>
              <a:avLst/>
              <a:gdLst/>
              <a:ahLst/>
              <a:cxnLst/>
              <a:rect l="l" t="t" r="r" b="b"/>
              <a:pathLst>
                <a:path w="131444" h="2491104">
                  <a:moveTo>
                    <a:pt x="66624" y="2490709"/>
                  </a:moveTo>
                  <a:lnTo>
                    <a:pt x="64465" y="2490709"/>
                  </a:lnTo>
                  <a:lnTo>
                    <a:pt x="40049" y="2485771"/>
                  </a:lnTo>
                  <a:lnTo>
                    <a:pt x="19212" y="2471715"/>
                  </a:lnTo>
                  <a:lnTo>
                    <a:pt x="5156" y="2450879"/>
                  </a:lnTo>
                  <a:lnTo>
                    <a:pt x="0" y="2425383"/>
                  </a:lnTo>
                  <a:lnTo>
                    <a:pt x="0" y="65544"/>
                  </a:lnTo>
                  <a:lnTo>
                    <a:pt x="5156" y="40049"/>
                  </a:lnTo>
                  <a:lnTo>
                    <a:pt x="19212" y="19213"/>
                  </a:lnTo>
                  <a:lnTo>
                    <a:pt x="40049" y="5156"/>
                  </a:lnTo>
                  <a:lnTo>
                    <a:pt x="65545" y="0"/>
                  </a:lnTo>
                  <a:lnTo>
                    <a:pt x="91041" y="5156"/>
                  </a:lnTo>
                  <a:lnTo>
                    <a:pt x="111877" y="19213"/>
                  </a:lnTo>
                  <a:lnTo>
                    <a:pt x="125933" y="40049"/>
                  </a:lnTo>
                  <a:lnTo>
                    <a:pt x="131089" y="65544"/>
                  </a:lnTo>
                  <a:lnTo>
                    <a:pt x="131089" y="2425383"/>
                  </a:lnTo>
                  <a:lnTo>
                    <a:pt x="125933" y="2450879"/>
                  </a:lnTo>
                  <a:lnTo>
                    <a:pt x="111877" y="2471715"/>
                  </a:lnTo>
                  <a:lnTo>
                    <a:pt x="91041" y="2485771"/>
                  </a:lnTo>
                  <a:lnTo>
                    <a:pt x="66624" y="2490709"/>
                  </a:lnTo>
                  <a:close/>
                </a:path>
              </a:pathLst>
            </a:custGeom>
            <a:solidFill>
              <a:srgbClr val="4289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996896" y="372978"/>
            <a:ext cx="9133840" cy="1225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50"/>
              </a:spcBef>
            </a:pPr>
            <a:r>
              <a:rPr dirty="0" sz="3850" spc="340"/>
              <a:t>Why</a:t>
            </a:r>
            <a:r>
              <a:rPr dirty="0" sz="3850" spc="-20"/>
              <a:t> </a:t>
            </a:r>
            <a:r>
              <a:rPr dirty="0" sz="3850" spc="200"/>
              <a:t>Deepfakes</a:t>
            </a:r>
            <a:r>
              <a:rPr dirty="0" sz="3850" spc="-20"/>
              <a:t> </a:t>
            </a:r>
            <a:r>
              <a:rPr dirty="0" sz="3850" spc="190"/>
              <a:t>Threaten</a:t>
            </a:r>
            <a:r>
              <a:rPr dirty="0" sz="3850" spc="-20"/>
              <a:t> </a:t>
            </a:r>
            <a:r>
              <a:rPr dirty="0" sz="3850" spc="275"/>
              <a:t>Our</a:t>
            </a:r>
            <a:r>
              <a:rPr dirty="0" sz="3850" spc="-20"/>
              <a:t> </a:t>
            </a:r>
            <a:r>
              <a:rPr dirty="0" sz="3850" spc="185"/>
              <a:t>Digital </a:t>
            </a:r>
            <a:r>
              <a:rPr dirty="0" sz="3850" spc="215"/>
              <a:t>World</a:t>
            </a:r>
            <a:endParaRPr sz="3850"/>
          </a:p>
        </p:txBody>
      </p:sp>
      <p:sp>
        <p:nvSpPr>
          <p:cNvPr id="16" name="object 16"/>
          <p:cNvSpPr txBox="1"/>
          <p:nvPr/>
        </p:nvSpPr>
        <p:spPr>
          <a:xfrm>
            <a:off x="2187878" y="2028821"/>
            <a:ext cx="8935720" cy="7757159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875"/>
              </a:spcBef>
            </a:pPr>
            <a:r>
              <a:rPr dirty="0" sz="2350" spc="145" b="1">
                <a:solidFill>
                  <a:srgbClr val="405349"/>
                </a:solidFill>
                <a:latin typeface="Cambria"/>
                <a:cs typeface="Cambria"/>
              </a:rPr>
              <a:t>Main</a:t>
            </a:r>
            <a:r>
              <a:rPr dirty="0" sz="2350" spc="-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25" b="1">
                <a:solidFill>
                  <a:srgbClr val="405349"/>
                </a:solidFill>
                <a:latin typeface="Cambria"/>
                <a:cs typeface="Cambria"/>
              </a:rPr>
              <a:t>Technical</a:t>
            </a:r>
            <a:r>
              <a:rPr dirty="0" sz="235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25" b="1">
                <a:solidFill>
                  <a:srgbClr val="405349"/>
                </a:solidFill>
                <a:latin typeface="Cambria"/>
                <a:cs typeface="Cambria"/>
              </a:rPr>
              <a:t>Problem</a:t>
            </a:r>
            <a:endParaRPr sz="2350">
              <a:latin typeface="Cambria"/>
              <a:cs typeface="Cambria"/>
            </a:endParaRPr>
          </a:p>
          <a:p>
            <a:pPr marL="60960" marR="5080">
              <a:lnSpc>
                <a:spcPct val="125000"/>
              </a:lnSpc>
              <a:spcBef>
                <a:spcPts val="85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improving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faster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90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systems.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Creating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today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requires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very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little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skill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because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open-source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tools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405349"/>
                </a:solidFill>
                <a:latin typeface="Microsoft Sans Serif"/>
                <a:cs typeface="Microsoft Sans Serif"/>
              </a:rPr>
              <a:t>and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pre-trained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freely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available.</a:t>
            </a:r>
            <a:endParaRPr sz="1900">
              <a:latin typeface="Microsoft Sans Serif"/>
              <a:cs typeface="Microsoft Sans Serif"/>
            </a:endParaRPr>
          </a:p>
          <a:p>
            <a:pPr marL="60960" marR="238760">
              <a:lnSpc>
                <a:spcPct val="125000"/>
              </a:lnSpc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However,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detecting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these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accurately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real-world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conditions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still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0">
                <a:solidFill>
                  <a:srgbClr val="405349"/>
                </a:solidFill>
                <a:latin typeface="Microsoft Sans Serif"/>
                <a:cs typeface="Microsoft Sans Serif"/>
              </a:rPr>
              <a:t>a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major</a:t>
            </a:r>
            <a:r>
              <a:rPr dirty="0" sz="19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19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challenge.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5"/>
              </a:spcBef>
            </a:pPr>
            <a:r>
              <a:rPr dirty="0" sz="2350" spc="175" b="1">
                <a:solidFill>
                  <a:srgbClr val="405349"/>
                </a:solidFill>
                <a:latin typeface="Cambria"/>
                <a:cs typeface="Cambria"/>
              </a:rPr>
              <a:t>What</a:t>
            </a:r>
            <a:r>
              <a:rPr dirty="0" sz="23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35" b="1">
                <a:solidFill>
                  <a:srgbClr val="405349"/>
                </a:solidFill>
                <a:latin typeface="Cambria"/>
                <a:cs typeface="Cambria"/>
              </a:rPr>
              <a:t>Research</a:t>
            </a:r>
            <a:r>
              <a:rPr dirty="0" sz="23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55" b="1">
                <a:solidFill>
                  <a:srgbClr val="405349"/>
                </a:solidFill>
                <a:latin typeface="Cambria"/>
                <a:cs typeface="Cambria"/>
              </a:rPr>
              <a:t>Shows</a:t>
            </a:r>
            <a:endParaRPr sz="235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  <a:spcBef>
                <a:spcPts val="55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Recent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research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reports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show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that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number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videos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online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405349"/>
                </a:solidFill>
                <a:latin typeface="Microsoft Sans Serif"/>
                <a:cs typeface="Microsoft Sans Serif"/>
              </a:rPr>
              <a:t>has</a:t>
            </a:r>
            <a:endParaRPr sz="19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570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grown</a:t>
            </a:r>
            <a:r>
              <a:rPr dirty="0" sz="19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exponentially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last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few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years.</a:t>
            </a:r>
            <a:endParaRPr sz="1900">
              <a:latin typeface="Microsoft Sans Serif"/>
              <a:cs typeface="Microsoft Sans Serif"/>
            </a:endParaRPr>
          </a:p>
          <a:p>
            <a:pPr marL="60960" marR="1139825">
              <a:lnSpc>
                <a:spcPct val="125000"/>
              </a:lnSpc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Studies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also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show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that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many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fail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when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405349"/>
                </a:solidFill>
                <a:latin typeface="Microsoft Sans Serif"/>
                <a:cs typeface="Microsoft Sans Serif"/>
              </a:rPr>
              <a:t>are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compressed,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resized,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shared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media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platforms.</a:t>
            </a:r>
            <a:endParaRPr sz="19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570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proves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that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current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systems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not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robust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enough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real-world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405349"/>
                </a:solidFill>
                <a:latin typeface="Microsoft Sans Serif"/>
                <a:cs typeface="Microsoft Sans Serif"/>
              </a:rPr>
              <a:t>use.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350" spc="135" b="1">
                <a:solidFill>
                  <a:srgbClr val="405349"/>
                </a:solidFill>
                <a:latin typeface="Cambria"/>
                <a:cs typeface="Cambria"/>
              </a:rPr>
              <a:t>Basic</a:t>
            </a:r>
            <a:r>
              <a:rPr dirty="0" sz="235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14" b="1">
                <a:solidFill>
                  <a:srgbClr val="405349"/>
                </a:solidFill>
                <a:latin typeface="Cambria"/>
                <a:cs typeface="Cambria"/>
              </a:rPr>
              <a:t>Direction</a:t>
            </a:r>
            <a:r>
              <a:rPr dirty="0" sz="235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10" b="1">
                <a:solidFill>
                  <a:srgbClr val="405349"/>
                </a:solidFill>
                <a:latin typeface="Cambria"/>
                <a:cs typeface="Cambria"/>
              </a:rPr>
              <a:t>to</a:t>
            </a:r>
            <a:r>
              <a:rPr dirty="0" sz="235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14" b="1">
                <a:solidFill>
                  <a:srgbClr val="405349"/>
                </a:solidFill>
                <a:latin typeface="Cambria"/>
                <a:cs typeface="Cambria"/>
              </a:rPr>
              <a:t>Solve</a:t>
            </a:r>
            <a:r>
              <a:rPr dirty="0" sz="235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350" spc="114" b="1">
                <a:solidFill>
                  <a:srgbClr val="405349"/>
                </a:solidFill>
                <a:latin typeface="Cambria"/>
                <a:cs typeface="Cambria"/>
              </a:rPr>
              <a:t>This</a:t>
            </a:r>
            <a:endParaRPr sz="235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  <a:spcBef>
                <a:spcPts val="390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address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problem,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researchers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working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405349"/>
                </a:solidFill>
                <a:latin typeface="Microsoft Sans Serif"/>
                <a:cs typeface="Microsoft Sans Serif"/>
              </a:rPr>
              <a:t>on:</a:t>
            </a:r>
            <a:endParaRPr sz="1900">
              <a:latin typeface="Microsoft Sans Serif"/>
              <a:cs typeface="Microsoft Sans Serif"/>
            </a:endParaRPr>
          </a:p>
          <a:p>
            <a:pPr marL="60960" marR="1837055">
              <a:lnSpc>
                <a:spcPct val="125000"/>
              </a:lnSpc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AI-based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trained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large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diverse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datasets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Media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authentication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like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watermarking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ethical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use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technology</a:t>
            </a:r>
            <a:endParaRPr sz="19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570"/>
              </a:spcBef>
            </a:pP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Solving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problem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requires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both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responsible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19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05349"/>
                </a:solidFill>
                <a:latin typeface="Microsoft Sans Serif"/>
                <a:cs typeface="Microsoft Sans Serif"/>
              </a:rPr>
              <a:t>usage.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06047" y="4397306"/>
            <a:ext cx="4857750" cy="3152775"/>
            <a:chOff x="12406047" y="4397306"/>
            <a:chExt cx="4857750" cy="315277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29010" y="4543734"/>
              <a:ext cx="4029074" cy="25431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06047" y="4397306"/>
              <a:ext cx="4857749" cy="3152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204" rIns="0" bIns="0" rtlCol="0" vert="horz">
            <a:spAutoFit/>
          </a:bodyPr>
          <a:lstStyle/>
          <a:p>
            <a:pPr marL="1654175">
              <a:lnSpc>
                <a:spcPct val="100000"/>
              </a:lnSpc>
              <a:spcBef>
                <a:spcPts val="110"/>
              </a:spcBef>
            </a:pPr>
            <a:r>
              <a:rPr dirty="0" sz="5800" spc="315"/>
              <a:t>Research</a:t>
            </a:r>
            <a:r>
              <a:rPr dirty="0" sz="5800" spc="-45"/>
              <a:t> </a:t>
            </a:r>
            <a:r>
              <a:rPr dirty="0" sz="5800" spc="330"/>
              <a:t>Background</a:t>
            </a:r>
            <a:r>
              <a:rPr dirty="0" sz="5800" spc="-40"/>
              <a:t> </a:t>
            </a:r>
            <a:r>
              <a:rPr dirty="0" sz="5800" spc="405"/>
              <a:t>of</a:t>
            </a:r>
            <a:r>
              <a:rPr dirty="0" sz="5800" spc="-40"/>
              <a:t> </a:t>
            </a:r>
            <a:r>
              <a:rPr dirty="0" sz="5800" spc="275"/>
              <a:t>Deepfakes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5696365" y="2050379"/>
            <a:ext cx="6680200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204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35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00" spc="165" b="1">
                <a:solidFill>
                  <a:srgbClr val="3B4540"/>
                </a:solidFill>
                <a:latin typeface="Cambria"/>
                <a:cs typeface="Cambria"/>
              </a:rPr>
              <a:t>Evolution:</a:t>
            </a:r>
            <a:r>
              <a:rPr dirty="0" sz="35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00" spc="325" b="1">
                <a:solidFill>
                  <a:srgbClr val="3B4540"/>
                </a:solidFill>
                <a:latin typeface="Cambria"/>
                <a:cs typeface="Cambria"/>
              </a:rPr>
              <a:t>How</a:t>
            </a:r>
            <a:r>
              <a:rPr dirty="0" sz="35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00" spc="130" b="1">
                <a:solidFill>
                  <a:srgbClr val="3B4540"/>
                </a:solidFill>
                <a:latin typeface="Cambria"/>
                <a:cs typeface="Cambria"/>
              </a:rPr>
              <a:t>it</a:t>
            </a:r>
            <a:r>
              <a:rPr dirty="0" sz="35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00" spc="180" b="1">
                <a:solidFill>
                  <a:srgbClr val="3B4540"/>
                </a:solidFill>
                <a:latin typeface="Cambria"/>
                <a:cs typeface="Cambria"/>
              </a:rPr>
              <a:t>Started</a:t>
            </a:r>
            <a:endParaRPr sz="35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12610" y="3255320"/>
            <a:ext cx="1450340" cy="5466715"/>
            <a:chOff x="8012610" y="3255320"/>
            <a:chExt cx="1450340" cy="5466715"/>
          </a:xfrm>
        </p:grpSpPr>
        <p:sp>
          <p:nvSpPr>
            <p:cNvPr id="5" name="object 5"/>
            <p:cNvSpPr/>
            <p:nvPr/>
          </p:nvSpPr>
          <p:spPr>
            <a:xfrm>
              <a:off x="8012608" y="3255326"/>
              <a:ext cx="1150620" cy="5466715"/>
            </a:xfrm>
            <a:custGeom>
              <a:avLst/>
              <a:gdLst/>
              <a:ahLst/>
              <a:cxnLst/>
              <a:rect l="l" t="t" r="r" b="b"/>
              <a:pathLst>
                <a:path w="1150620" h="5466715">
                  <a:moveTo>
                    <a:pt x="850582" y="318935"/>
                  </a:moveTo>
                  <a:lnTo>
                    <a:pt x="849071" y="311543"/>
                  </a:lnTo>
                  <a:lnTo>
                    <a:pt x="844981" y="305485"/>
                  </a:lnTo>
                  <a:lnTo>
                    <a:pt x="838923" y="301383"/>
                  </a:lnTo>
                  <a:lnTo>
                    <a:pt x="831532" y="299885"/>
                  </a:lnTo>
                  <a:lnTo>
                    <a:pt x="19050" y="299885"/>
                  </a:lnTo>
                  <a:lnTo>
                    <a:pt x="11645" y="301383"/>
                  </a:lnTo>
                  <a:lnTo>
                    <a:pt x="5588" y="305485"/>
                  </a:lnTo>
                  <a:lnTo>
                    <a:pt x="1498" y="311543"/>
                  </a:lnTo>
                  <a:lnTo>
                    <a:pt x="0" y="318935"/>
                  </a:lnTo>
                  <a:lnTo>
                    <a:pt x="1498" y="326326"/>
                  </a:lnTo>
                  <a:lnTo>
                    <a:pt x="5588" y="332384"/>
                  </a:lnTo>
                  <a:lnTo>
                    <a:pt x="11645" y="336486"/>
                  </a:lnTo>
                  <a:lnTo>
                    <a:pt x="19050" y="337985"/>
                  </a:lnTo>
                  <a:lnTo>
                    <a:pt x="831532" y="337985"/>
                  </a:lnTo>
                  <a:lnTo>
                    <a:pt x="838923" y="336486"/>
                  </a:lnTo>
                  <a:lnTo>
                    <a:pt x="844981" y="332384"/>
                  </a:lnTo>
                  <a:lnTo>
                    <a:pt x="849071" y="326326"/>
                  </a:lnTo>
                  <a:lnTo>
                    <a:pt x="850582" y="318935"/>
                  </a:lnTo>
                  <a:close/>
                </a:path>
                <a:path w="1150620" h="5466715">
                  <a:moveTo>
                    <a:pt x="1150429" y="19050"/>
                  </a:moveTo>
                  <a:lnTo>
                    <a:pt x="1148930" y="11658"/>
                  </a:lnTo>
                  <a:lnTo>
                    <a:pt x="1144841" y="5600"/>
                  </a:lnTo>
                  <a:lnTo>
                    <a:pt x="1138783" y="1498"/>
                  </a:lnTo>
                  <a:lnTo>
                    <a:pt x="1131379" y="0"/>
                  </a:lnTo>
                  <a:lnTo>
                    <a:pt x="1123988" y="1498"/>
                  </a:lnTo>
                  <a:lnTo>
                    <a:pt x="1117930" y="5600"/>
                  </a:lnTo>
                  <a:lnTo>
                    <a:pt x="1113840" y="11658"/>
                  </a:lnTo>
                  <a:lnTo>
                    <a:pt x="1112329" y="19050"/>
                  </a:lnTo>
                  <a:lnTo>
                    <a:pt x="1112329" y="5447538"/>
                  </a:lnTo>
                  <a:lnTo>
                    <a:pt x="1113840" y="5454929"/>
                  </a:lnTo>
                  <a:lnTo>
                    <a:pt x="1117930" y="5460987"/>
                  </a:lnTo>
                  <a:lnTo>
                    <a:pt x="1123988" y="5465089"/>
                  </a:lnTo>
                  <a:lnTo>
                    <a:pt x="1131379" y="5466588"/>
                  </a:lnTo>
                  <a:lnTo>
                    <a:pt x="1138783" y="5465089"/>
                  </a:lnTo>
                  <a:lnTo>
                    <a:pt x="1144841" y="5460987"/>
                  </a:lnTo>
                  <a:lnTo>
                    <a:pt x="1148930" y="5454929"/>
                  </a:lnTo>
                  <a:lnTo>
                    <a:pt x="1150429" y="5447538"/>
                  </a:lnTo>
                  <a:lnTo>
                    <a:pt x="1150429" y="19050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825064" y="325532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82714" y="637889"/>
                  </a:moveTo>
                  <a:lnTo>
                    <a:pt x="255174" y="637889"/>
                  </a:lnTo>
                  <a:lnTo>
                    <a:pt x="209331" y="633779"/>
                  </a:lnTo>
                  <a:lnTo>
                    <a:pt x="166159" y="621929"/>
                  </a:lnTo>
                  <a:lnTo>
                    <a:pt x="126409" y="603059"/>
                  </a:lnTo>
                  <a:lnTo>
                    <a:pt x="90796" y="577888"/>
                  </a:lnTo>
                  <a:lnTo>
                    <a:pt x="60039" y="547137"/>
                  </a:lnTo>
                  <a:lnTo>
                    <a:pt x="34859" y="511524"/>
                  </a:lnTo>
                  <a:lnTo>
                    <a:pt x="15977" y="471769"/>
                  </a:lnTo>
                  <a:lnTo>
                    <a:pt x="4116" y="428593"/>
                  </a:lnTo>
                  <a:lnTo>
                    <a:pt x="0" y="382714"/>
                  </a:lnTo>
                  <a:lnTo>
                    <a:pt x="0" y="255174"/>
                  </a:lnTo>
                  <a:lnTo>
                    <a:pt x="4109" y="209295"/>
                  </a:lnTo>
                  <a:lnTo>
                    <a:pt x="15959" y="166119"/>
                  </a:lnTo>
                  <a:lnTo>
                    <a:pt x="34829" y="126364"/>
                  </a:lnTo>
                  <a:lnTo>
                    <a:pt x="60000" y="90752"/>
                  </a:lnTo>
                  <a:lnTo>
                    <a:pt x="90752" y="60000"/>
                  </a:lnTo>
                  <a:lnTo>
                    <a:pt x="126365" y="34829"/>
                  </a:lnTo>
                  <a:lnTo>
                    <a:pt x="166119" y="15959"/>
                  </a:lnTo>
                  <a:lnTo>
                    <a:pt x="209296" y="4109"/>
                  </a:lnTo>
                  <a:lnTo>
                    <a:pt x="255174" y="0"/>
                  </a:lnTo>
                  <a:lnTo>
                    <a:pt x="382714" y="0"/>
                  </a:lnTo>
                  <a:lnTo>
                    <a:pt x="428593" y="4109"/>
                  </a:lnTo>
                  <a:lnTo>
                    <a:pt x="471769" y="15959"/>
                  </a:lnTo>
                  <a:lnTo>
                    <a:pt x="511524" y="34829"/>
                  </a:lnTo>
                  <a:lnTo>
                    <a:pt x="547137" y="60000"/>
                  </a:lnTo>
                  <a:lnTo>
                    <a:pt x="577888" y="90752"/>
                  </a:lnTo>
                  <a:lnTo>
                    <a:pt x="603059" y="126364"/>
                  </a:lnTo>
                  <a:lnTo>
                    <a:pt x="621929" y="166119"/>
                  </a:lnTo>
                  <a:lnTo>
                    <a:pt x="633779" y="209295"/>
                  </a:lnTo>
                  <a:lnTo>
                    <a:pt x="637889" y="255174"/>
                  </a:lnTo>
                  <a:lnTo>
                    <a:pt x="637889" y="382714"/>
                  </a:lnTo>
                  <a:lnTo>
                    <a:pt x="633779" y="428593"/>
                  </a:lnTo>
                  <a:lnTo>
                    <a:pt x="621929" y="471769"/>
                  </a:lnTo>
                  <a:lnTo>
                    <a:pt x="603059" y="511524"/>
                  </a:lnTo>
                  <a:lnTo>
                    <a:pt x="577888" y="547137"/>
                  </a:lnTo>
                  <a:lnTo>
                    <a:pt x="547137" y="577888"/>
                  </a:lnTo>
                  <a:lnTo>
                    <a:pt x="511524" y="603059"/>
                  </a:lnTo>
                  <a:lnTo>
                    <a:pt x="471769" y="621929"/>
                  </a:lnTo>
                  <a:lnTo>
                    <a:pt x="428593" y="633779"/>
                  </a:lnTo>
                  <a:lnTo>
                    <a:pt x="382714" y="637889"/>
                  </a:lnTo>
                  <a:close/>
                </a:path>
              </a:pathLst>
            </a:custGeom>
            <a:solidFill>
              <a:srgbClr val="E7F2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027941" y="3269621"/>
            <a:ext cx="23241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395" b="1">
                <a:solidFill>
                  <a:srgbClr val="405349"/>
                </a:solidFill>
                <a:latin typeface="Cambria"/>
                <a:cs typeface="Cambria"/>
              </a:rPr>
              <a:t>1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1012" y="3246602"/>
            <a:ext cx="6048375" cy="1137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296160">
              <a:lnSpc>
                <a:spcPct val="100000"/>
              </a:lnSpc>
              <a:spcBef>
                <a:spcPts val="110"/>
              </a:spcBef>
            </a:pPr>
            <a:r>
              <a:rPr dirty="0" sz="3300" spc="185" b="1">
                <a:solidFill>
                  <a:srgbClr val="405349"/>
                </a:solidFill>
                <a:latin typeface="Cambria"/>
                <a:cs typeface="Cambria"/>
              </a:rPr>
              <a:t>Early</a:t>
            </a:r>
            <a:r>
              <a:rPr dirty="0" sz="3300" spc="-2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220" b="1">
                <a:solidFill>
                  <a:srgbClr val="405349"/>
                </a:solidFill>
                <a:latin typeface="Cambria"/>
                <a:cs typeface="Cambria"/>
              </a:rPr>
              <a:t>Days</a:t>
            </a:r>
            <a:r>
              <a:rPr dirty="0" sz="3300" spc="-2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-10" b="1">
                <a:solidFill>
                  <a:srgbClr val="405349"/>
                </a:solidFill>
                <a:latin typeface="Cambria"/>
                <a:cs typeface="Cambria"/>
              </a:rPr>
              <a:t>(2014)</a:t>
            </a:r>
            <a:endParaRPr sz="3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It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started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labs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using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concept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called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1012" y="4358506"/>
            <a:ext cx="6710680" cy="920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GANs</a:t>
            </a:r>
            <a:r>
              <a:rPr dirty="0" sz="215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(Generative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Adversarial</a:t>
            </a:r>
            <a:r>
              <a:rPr dirty="0" sz="215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Networks).</a:t>
            </a:r>
            <a:r>
              <a:rPr dirty="0" sz="215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Back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then,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you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needed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supercomputer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PhD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make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one.</a:t>
            </a:r>
            <a:endParaRPr sz="21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825064" y="4956419"/>
            <a:ext cx="1450975" cy="638175"/>
            <a:chOff x="8825064" y="4956419"/>
            <a:chExt cx="1450975" cy="638175"/>
          </a:xfrm>
        </p:grpSpPr>
        <p:sp>
          <p:nvSpPr>
            <p:cNvPr id="11" name="object 11"/>
            <p:cNvSpPr/>
            <p:nvPr/>
          </p:nvSpPr>
          <p:spPr>
            <a:xfrm>
              <a:off x="9424833" y="5256314"/>
              <a:ext cx="850900" cy="38100"/>
            </a:xfrm>
            <a:custGeom>
              <a:avLst/>
              <a:gdLst/>
              <a:ahLst/>
              <a:cxnLst/>
              <a:rect l="l" t="t" r="r" b="b"/>
              <a:pathLst>
                <a:path w="850900" h="38100">
                  <a:moveTo>
                    <a:pt x="831532" y="38099"/>
                  </a:moveTo>
                  <a:lnTo>
                    <a:pt x="19049" y="38099"/>
                  </a:lnTo>
                  <a:lnTo>
                    <a:pt x="11653" y="36596"/>
                  </a:lnTo>
                  <a:lnTo>
                    <a:pt x="5595" y="32504"/>
                  </a:lnTo>
                  <a:lnTo>
                    <a:pt x="1503" y="26446"/>
                  </a:lnTo>
                  <a:lnTo>
                    <a:pt x="0" y="19049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49" y="0"/>
                  </a:lnTo>
                  <a:lnTo>
                    <a:pt x="831532" y="0"/>
                  </a:lnTo>
                  <a:lnTo>
                    <a:pt x="838929" y="1503"/>
                  </a:lnTo>
                  <a:lnTo>
                    <a:pt x="844986" y="5595"/>
                  </a:lnTo>
                  <a:lnTo>
                    <a:pt x="849079" y="11653"/>
                  </a:lnTo>
                  <a:lnTo>
                    <a:pt x="850582" y="19049"/>
                  </a:lnTo>
                  <a:lnTo>
                    <a:pt x="849079" y="26446"/>
                  </a:lnTo>
                  <a:lnTo>
                    <a:pt x="844986" y="32504"/>
                  </a:lnTo>
                  <a:lnTo>
                    <a:pt x="838929" y="36596"/>
                  </a:lnTo>
                  <a:lnTo>
                    <a:pt x="831532" y="38099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825064" y="4956419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82714" y="637889"/>
                  </a:moveTo>
                  <a:lnTo>
                    <a:pt x="255174" y="637889"/>
                  </a:lnTo>
                  <a:lnTo>
                    <a:pt x="209331" y="633779"/>
                  </a:lnTo>
                  <a:lnTo>
                    <a:pt x="166159" y="621929"/>
                  </a:lnTo>
                  <a:lnTo>
                    <a:pt x="126409" y="603059"/>
                  </a:lnTo>
                  <a:lnTo>
                    <a:pt x="90796" y="577888"/>
                  </a:lnTo>
                  <a:lnTo>
                    <a:pt x="60039" y="547137"/>
                  </a:lnTo>
                  <a:lnTo>
                    <a:pt x="34859" y="511524"/>
                  </a:lnTo>
                  <a:lnTo>
                    <a:pt x="15977" y="471769"/>
                  </a:lnTo>
                  <a:lnTo>
                    <a:pt x="4116" y="428593"/>
                  </a:lnTo>
                  <a:lnTo>
                    <a:pt x="0" y="382714"/>
                  </a:lnTo>
                  <a:lnTo>
                    <a:pt x="0" y="255174"/>
                  </a:lnTo>
                  <a:lnTo>
                    <a:pt x="4109" y="209295"/>
                  </a:lnTo>
                  <a:lnTo>
                    <a:pt x="15959" y="166119"/>
                  </a:lnTo>
                  <a:lnTo>
                    <a:pt x="34829" y="126364"/>
                  </a:lnTo>
                  <a:lnTo>
                    <a:pt x="60000" y="90752"/>
                  </a:lnTo>
                  <a:lnTo>
                    <a:pt x="90752" y="60000"/>
                  </a:lnTo>
                  <a:lnTo>
                    <a:pt x="126365" y="34829"/>
                  </a:lnTo>
                  <a:lnTo>
                    <a:pt x="166119" y="15959"/>
                  </a:lnTo>
                  <a:lnTo>
                    <a:pt x="209296" y="4109"/>
                  </a:lnTo>
                  <a:lnTo>
                    <a:pt x="255174" y="0"/>
                  </a:lnTo>
                  <a:lnTo>
                    <a:pt x="382714" y="0"/>
                  </a:lnTo>
                  <a:lnTo>
                    <a:pt x="428593" y="4109"/>
                  </a:lnTo>
                  <a:lnTo>
                    <a:pt x="471769" y="15959"/>
                  </a:lnTo>
                  <a:lnTo>
                    <a:pt x="511524" y="34829"/>
                  </a:lnTo>
                  <a:lnTo>
                    <a:pt x="547137" y="60000"/>
                  </a:lnTo>
                  <a:lnTo>
                    <a:pt x="577888" y="90752"/>
                  </a:lnTo>
                  <a:lnTo>
                    <a:pt x="603059" y="126364"/>
                  </a:lnTo>
                  <a:lnTo>
                    <a:pt x="621929" y="166119"/>
                  </a:lnTo>
                  <a:lnTo>
                    <a:pt x="633779" y="209295"/>
                  </a:lnTo>
                  <a:lnTo>
                    <a:pt x="637889" y="255174"/>
                  </a:lnTo>
                  <a:lnTo>
                    <a:pt x="637889" y="382714"/>
                  </a:lnTo>
                  <a:lnTo>
                    <a:pt x="633779" y="428593"/>
                  </a:lnTo>
                  <a:lnTo>
                    <a:pt x="621929" y="471769"/>
                  </a:lnTo>
                  <a:lnTo>
                    <a:pt x="603059" y="511524"/>
                  </a:lnTo>
                  <a:lnTo>
                    <a:pt x="577888" y="547137"/>
                  </a:lnTo>
                  <a:lnTo>
                    <a:pt x="547137" y="577888"/>
                  </a:lnTo>
                  <a:lnTo>
                    <a:pt x="511524" y="603059"/>
                  </a:lnTo>
                  <a:lnTo>
                    <a:pt x="471769" y="621929"/>
                  </a:lnTo>
                  <a:lnTo>
                    <a:pt x="428593" y="633779"/>
                  </a:lnTo>
                  <a:lnTo>
                    <a:pt x="382714" y="637889"/>
                  </a:lnTo>
                  <a:close/>
                </a:path>
              </a:pathLst>
            </a:custGeom>
            <a:solidFill>
              <a:srgbClr val="E7F2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995943" y="4970729"/>
            <a:ext cx="29654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125" b="1">
                <a:solidFill>
                  <a:srgbClr val="405349"/>
                </a:solidFill>
                <a:latin typeface="Cambria"/>
                <a:cs typeface="Cambria"/>
              </a:rPr>
              <a:t>2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48886" y="4672077"/>
            <a:ext cx="6633845" cy="2248535"/>
          </a:xfrm>
          <a:prstGeom prst="rect">
            <a:avLst/>
          </a:prstGeom>
        </p:spPr>
        <p:txBody>
          <a:bodyPr wrap="square" lIns="0" tIns="308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dirty="0" sz="3300" spc="175" b="1">
                <a:solidFill>
                  <a:srgbClr val="405349"/>
                </a:solidFill>
                <a:latin typeface="Cambria"/>
                <a:cs typeface="Cambria"/>
              </a:rPr>
              <a:t>The</a:t>
            </a:r>
            <a:r>
              <a:rPr dirty="0" sz="3300" spc="-2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50" b="1">
                <a:solidFill>
                  <a:srgbClr val="405349"/>
                </a:solidFill>
                <a:latin typeface="Cambria"/>
                <a:cs typeface="Cambria"/>
              </a:rPr>
              <a:t>Explosion</a:t>
            </a:r>
            <a:endParaRPr sz="330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Around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2017,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tech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became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"open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source."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This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means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anyone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with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decent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laptop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could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download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a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program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swap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faces.</a:t>
            </a:r>
            <a:endParaRPr sz="21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12610" y="6400504"/>
            <a:ext cx="1450340" cy="638175"/>
            <a:chOff x="8012610" y="6400504"/>
            <a:chExt cx="1450340" cy="638175"/>
          </a:xfrm>
        </p:grpSpPr>
        <p:sp>
          <p:nvSpPr>
            <p:cNvPr id="16" name="object 16"/>
            <p:cNvSpPr/>
            <p:nvPr/>
          </p:nvSpPr>
          <p:spPr>
            <a:xfrm>
              <a:off x="8012610" y="6700389"/>
              <a:ext cx="850900" cy="38100"/>
            </a:xfrm>
            <a:custGeom>
              <a:avLst/>
              <a:gdLst/>
              <a:ahLst/>
              <a:cxnLst/>
              <a:rect l="l" t="t" r="r" b="b"/>
              <a:pathLst>
                <a:path w="850900" h="38100">
                  <a:moveTo>
                    <a:pt x="831532" y="38099"/>
                  </a:moveTo>
                  <a:lnTo>
                    <a:pt x="19049" y="38099"/>
                  </a:lnTo>
                  <a:lnTo>
                    <a:pt x="11653" y="36596"/>
                  </a:lnTo>
                  <a:lnTo>
                    <a:pt x="5595" y="32504"/>
                  </a:lnTo>
                  <a:lnTo>
                    <a:pt x="1503" y="26446"/>
                  </a:lnTo>
                  <a:lnTo>
                    <a:pt x="0" y="19049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49" y="0"/>
                  </a:lnTo>
                  <a:lnTo>
                    <a:pt x="831532" y="0"/>
                  </a:lnTo>
                  <a:lnTo>
                    <a:pt x="838929" y="1503"/>
                  </a:lnTo>
                  <a:lnTo>
                    <a:pt x="844986" y="5595"/>
                  </a:lnTo>
                  <a:lnTo>
                    <a:pt x="849079" y="11653"/>
                  </a:lnTo>
                  <a:lnTo>
                    <a:pt x="850582" y="19049"/>
                  </a:lnTo>
                  <a:lnTo>
                    <a:pt x="849079" y="26446"/>
                  </a:lnTo>
                  <a:lnTo>
                    <a:pt x="844986" y="32504"/>
                  </a:lnTo>
                  <a:lnTo>
                    <a:pt x="838929" y="36596"/>
                  </a:lnTo>
                  <a:lnTo>
                    <a:pt x="831532" y="38099"/>
                  </a:lnTo>
                  <a:close/>
                </a:path>
              </a:pathLst>
            </a:custGeom>
            <a:solidFill>
              <a:srgbClr val="CDD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825064" y="6400504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82714" y="637889"/>
                  </a:moveTo>
                  <a:lnTo>
                    <a:pt x="255174" y="637889"/>
                  </a:lnTo>
                  <a:lnTo>
                    <a:pt x="209331" y="633779"/>
                  </a:lnTo>
                  <a:lnTo>
                    <a:pt x="166159" y="621929"/>
                  </a:lnTo>
                  <a:lnTo>
                    <a:pt x="126409" y="603059"/>
                  </a:lnTo>
                  <a:lnTo>
                    <a:pt x="90796" y="577888"/>
                  </a:lnTo>
                  <a:lnTo>
                    <a:pt x="60039" y="547137"/>
                  </a:lnTo>
                  <a:lnTo>
                    <a:pt x="34859" y="511524"/>
                  </a:lnTo>
                  <a:lnTo>
                    <a:pt x="15977" y="471769"/>
                  </a:lnTo>
                  <a:lnTo>
                    <a:pt x="4116" y="428593"/>
                  </a:lnTo>
                  <a:lnTo>
                    <a:pt x="0" y="382714"/>
                  </a:lnTo>
                  <a:lnTo>
                    <a:pt x="0" y="255174"/>
                  </a:lnTo>
                  <a:lnTo>
                    <a:pt x="4109" y="209295"/>
                  </a:lnTo>
                  <a:lnTo>
                    <a:pt x="15959" y="166119"/>
                  </a:lnTo>
                  <a:lnTo>
                    <a:pt x="34829" y="126364"/>
                  </a:lnTo>
                  <a:lnTo>
                    <a:pt x="60000" y="90751"/>
                  </a:lnTo>
                  <a:lnTo>
                    <a:pt x="90752" y="60000"/>
                  </a:lnTo>
                  <a:lnTo>
                    <a:pt x="126365" y="34829"/>
                  </a:lnTo>
                  <a:lnTo>
                    <a:pt x="166119" y="15959"/>
                  </a:lnTo>
                  <a:lnTo>
                    <a:pt x="209296" y="4109"/>
                  </a:lnTo>
                  <a:lnTo>
                    <a:pt x="255174" y="0"/>
                  </a:lnTo>
                  <a:lnTo>
                    <a:pt x="382714" y="0"/>
                  </a:lnTo>
                  <a:lnTo>
                    <a:pt x="428593" y="4109"/>
                  </a:lnTo>
                  <a:lnTo>
                    <a:pt x="471769" y="15959"/>
                  </a:lnTo>
                  <a:lnTo>
                    <a:pt x="511524" y="34829"/>
                  </a:lnTo>
                  <a:lnTo>
                    <a:pt x="547137" y="60000"/>
                  </a:lnTo>
                  <a:lnTo>
                    <a:pt x="577888" y="90751"/>
                  </a:lnTo>
                  <a:lnTo>
                    <a:pt x="603059" y="126364"/>
                  </a:lnTo>
                  <a:lnTo>
                    <a:pt x="621929" y="166119"/>
                  </a:lnTo>
                  <a:lnTo>
                    <a:pt x="633779" y="209295"/>
                  </a:lnTo>
                  <a:lnTo>
                    <a:pt x="637889" y="255174"/>
                  </a:lnTo>
                  <a:lnTo>
                    <a:pt x="637889" y="382714"/>
                  </a:lnTo>
                  <a:lnTo>
                    <a:pt x="633779" y="428593"/>
                  </a:lnTo>
                  <a:lnTo>
                    <a:pt x="621929" y="471769"/>
                  </a:lnTo>
                  <a:lnTo>
                    <a:pt x="603059" y="511524"/>
                  </a:lnTo>
                  <a:lnTo>
                    <a:pt x="577888" y="547137"/>
                  </a:lnTo>
                  <a:lnTo>
                    <a:pt x="547137" y="577888"/>
                  </a:lnTo>
                  <a:lnTo>
                    <a:pt x="511524" y="603059"/>
                  </a:lnTo>
                  <a:lnTo>
                    <a:pt x="471769" y="621929"/>
                  </a:lnTo>
                  <a:lnTo>
                    <a:pt x="428593" y="633779"/>
                  </a:lnTo>
                  <a:lnTo>
                    <a:pt x="382714" y="637889"/>
                  </a:lnTo>
                  <a:close/>
                </a:path>
              </a:pathLst>
            </a:custGeom>
            <a:solidFill>
              <a:srgbClr val="E7F2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006658" y="6414804"/>
            <a:ext cx="27495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solidFill>
                  <a:srgbClr val="405349"/>
                </a:solidFill>
                <a:latin typeface="Cambria"/>
                <a:cs typeface="Cambria"/>
              </a:rPr>
              <a:t>3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2735" y="6116140"/>
            <a:ext cx="6416675" cy="2248535"/>
          </a:xfrm>
          <a:prstGeom prst="rect">
            <a:avLst/>
          </a:prstGeom>
        </p:spPr>
        <p:txBody>
          <a:bodyPr wrap="square" lIns="0" tIns="3086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430"/>
              </a:spcBef>
            </a:pPr>
            <a:r>
              <a:rPr dirty="0" sz="3300" spc="165" b="1">
                <a:solidFill>
                  <a:srgbClr val="405349"/>
                </a:solidFill>
                <a:latin typeface="Cambria"/>
                <a:cs typeface="Cambria"/>
              </a:rPr>
              <a:t>Today</a:t>
            </a:r>
            <a:endParaRPr sz="3300">
              <a:latin typeface="Cambria"/>
              <a:cs typeface="Cambria"/>
            </a:endParaRPr>
          </a:p>
          <a:p>
            <a:pPr algn="just" marL="12700" marR="5080" indent="18542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have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moved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from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low-quality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face-swapping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to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Real-Time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deepfakes,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where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someone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change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their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face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voice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instantly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during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live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video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call.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1581950"/>
            <a:ext cx="7683500" cy="140716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50"/>
              </a:lnSpc>
            </a:pPr>
            <a:r>
              <a:rPr dirty="0" spc="260"/>
              <a:t>2.</a:t>
            </a:r>
            <a:r>
              <a:rPr dirty="0" spc="-20"/>
              <a:t> </a:t>
            </a:r>
            <a:r>
              <a:rPr dirty="0" spc="285"/>
              <a:t>Accuracy:</a:t>
            </a:r>
            <a:r>
              <a:rPr dirty="0" spc="-20"/>
              <a:t> </a:t>
            </a:r>
            <a:r>
              <a:rPr dirty="0" spc="390"/>
              <a:t>Why</a:t>
            </a:r>
            <a:r>
              <a:rPr dirty="0" spc="-20"/>
              <a:t> </a:t>
            </a:r>
            <a:r>
              <a:rPr dirty="0" spc="220"/>
              <a:t>they</a:t>
            </a:r>
            <a:r>
              <a:rPr dirty="0" spc="-20"/>
              <a:t> </a:t>
            </a:r>
            <a:r>
              <a:rPr dirty="0" spc="165"/>
              <a:t>look </a:t>
            </a:r>
            <a:r>
              <a:rPr dirty="0" spc="215"/>
              <a:t>so</a:t>
            </a:r>
            <a:r>
              <a:rPr dirty="0" spc="-25"/>
              <a:t> </a:t>
            </a:r>
            <a:r>
              <a:rPr dirty="0" spc="165"/>
              <a:t>real</a:t>
            </a:r>
            <a:r>
              <a:rPr dirty="0" spc="-20"/>
              <a:t> </a:t>
            </a:r>
            <a:r>
              <a:rPr dirty="0" spc="240"/>
              <a:t>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3352076"/>
            <a:ext cx="7894320" cy="53066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124460">
              <a:lnSpc>
                <a:spcPct val="102800"/>
              </a:lnSpc>
              <a:spcBef>
                <a:spcPts val="50"/>
              </a:spcBef>
            </a:pP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reason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we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can’t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5" b="1">
                <a:solidFill>
                  <a:srgbClr val="3B4540"/>
                </a:solidFill>
                <a:latin typeface="Cambria"/>
                <a:cs typeface="Cambria"/>
              </a:rPr>
              <a:t>tell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difference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anymore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5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55" b="1">
                <a:solidFill>
                  <a:srgbClr val="3B4540"/>
                </a:solidFill>
                <a:latin typeface="Cambria"/>
                <a:cs typeface="Cambria"/>
              </a:rPr>
              <a:t>due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to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three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main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improvements: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250">
              <a:latin typeface="Cambria"/>
              <a:cs typeface="Cambria"/>
            </a:endParaRPr>
          </a:p>
          <a:p>
            <a:pPr marL="12700" marR="439420">
              <a:lnSpc>
                <a:spcPct val="102800"/>
              </a:lnSpc>
            </a:pP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Better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Training: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229" b="1">
                <a:solidFill>
                  <a:srgbClr val="3B4540"/>
                </a:solidFill>
                <a:latin typeface="Cambria"/>
                <a:cs typeface="Cambria"/>
              </a:rPr>
              <a:t>AI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models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used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to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65" b="1">
                <a:solidFill>
                  <a:srgbClr val="3B4540"/>
                </a:solidFill>
                <a:latin typeface="Cambria"/>
                <a:cs typeface="Cambria"/>
              </a:rPr>
              <a:t>"learn"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from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45" b="1">
                <a:solidFill>
                  <a:srgbClr val="3B4540"/>
                </a:solidFill>
                <a:latin typeface="Cambria"/>
                <a:cs typeface="Cambria"/>
              </a:rPr>
              <a:t>100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photos;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40" b="1">
                <a:solidFill>
                  <a:srgbClr val="3B4540"/>
                </a:solidFill>
                <a:latin typeface="Cambria"/>
                <a:cs typeface="Cambria"/>
              </a:rPr>
              <a:t>now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they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learn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from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thousands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of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high-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definition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video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frames.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250">
              <a:latin typeface="Cambria"/>
              <a:cs typeface="Cambria"/>
            </a:endParaRPr>
          </a:p>
          <a:p>
            <a:pPr marL="12700" marR="5080">
              <a:lnSpc>
                <a:spcPct val="102800"/>
              </a:lnSpc>
              <a:spcBef>
                <a:spcPts val="5"/>
              </a:spcBef>
            </a:pPr>
            <a:r>
              <a:rPr dirty="0" sz="2250" spc="150" b="1">
                <a:solidFill>
                  <a:srgbClr val="3B4540"/>
                </a:solidFill>
                <a:latin typeface="Cambria"/>
                <a:cs typeface="Cambria"/>
              </a:rPr>
              <a:t>Focus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on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55" b="1">
                <a:solidFill>
                  <a:srgbClr val="3B4540"/>
                </a:solidFill>
                <a:latin typeface="Cambria"/>
                <a:cs typeface="Cambria"/>
              </a:rPr>
              <a:t>Small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Details: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Older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deepfakes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0" b="1">
                <a:solidFill>
                  <a:srgbClr val="3B4540"/>
                </a:solidFill>
                <a:latin typeface="Cambria"/>
                <a:cs typeface="Cambria"/>
              </a:rPr>
              <a:t>didn't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blink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55" b="1">
                <a:solidFill>
                  <a:srgbClr val="3B4540"/>
                </a:solidFill>
                <a:latin typeface="Cambria"/>
                <a:cs typeface="Cambria"/>
              </a:rPr>
              <a:t>or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had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weird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shadows.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Modern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229" b="1">
                <a:solidFill>
                  <a:srgbClr val="3B4540"/>
                </a:solidFill>
                <a:latin typeface="Cambria"/>
                <a:cs typeface="Cambria"/>
              </a:rPr>
              <a:t>AI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perfectly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copies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skin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texture,</a:t>
            </a:r>
            <a:r>
              <a:rPr dirty="0" sz="225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reflections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in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eyes,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and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50" b="1">
                <a:solidFill>
                  <a:srgbClr val="3B4540"/>
                </a:solidFill>
                <a:latin typeface="Cambria"/>
                <a:cs typeface="Cambria"/>
              </a:rPr>
              <a:t>how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light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hits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the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face.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250">
              <a:latin typeface="Cambria"/>
              <a:cs typeface="Cambria"/>
            </a:endParaRPr>
          </a:p>
          <a:p>
            <a:pPr marL="12700" marR="520065">
              <a:lnSpc>
                <a:spcPct val="102800"/>
              </a:lnSpc>
            </a:pP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Seamless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Blending: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5" b="1">
                <a:solidFill>
                  <a:srgbClr val="3B4540"/>
                </a:solidFill>
                <a:latin typeface="Cambria"/>
                <a:cs typeface="Cambria"/>
              </a:rPr>
              <a:t>"seam"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where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fake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face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meets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5" b="1">
                <a:solidFill>
                  <a:srgbClr val="3B4540"/>
                </a:solidFill>
                <a:latin typeface="Cambria"/>
                <a:cs typeface="Cambria"/>
              </a:rPr>
              <a:t>real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head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5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40" b="1">
                <a:solidFill>
                  <a:srgbClr val="3B4540"/>
                </a:solidFill>
                <a:latin typeface="Cambria"/>
                <a:cs typeface="Cambria"/>
              </a:rPr>
              <a:t>now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digitally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smoothed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out, </a:t>
            </a:r>
            <a:r>
              <a:rPr dirty="0" sz="2250" spc="140" b="1">
                <a:solidFill>
                  <a:srgbClr val="3B4540"/>
                </a:solidFill>
                <a:latin typeface="Cambria"/>
                <a:cs typeface="Cambria"/>
              </a:rPr>
              <a:t>making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it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look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0" b="1">
                <a:solidFill>
                  <a:srgbClr val="3B4540"/>
                </a:solidFill>
                <a:latin typeface="Cambria"/>
                <a:cs typeface="Cambria"/>
              </a:rPr>
              <a:t>like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one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single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skin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surface.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0504" y="1629702"/>
            <a:ext cx="165735" cy="7179309"/>
          </a:xfrm>
          <a:custGeom>
            <a:avLst/>
            <a:gdLst/>
            <a:ahLst/>
            <a:cxnLst/>
            <a:rect l="l" t="t" r="r" b="b"/>
            <a:pathLst>
              <a:path w="165734" h="7179309">
                <a:moveTo>
                  <a:pt x="83545" y="7179124"/>
                </a:moveTo>
                <a:lnTo>
                  <a:pt x="81848" y="7179124"/>
                </a:lnTo>
                <a:lnTo>
                  <a:pt x="56578" y="7169794"/>
                </a:lnTo>
                <a:lnTo>
                  <a:pt x="33879" y="7142953"/>
                </a:lnTo>
                <a:lnTo>
                  <a:pt x="15970" y="7102041"/>
                </a:lnTo>
                <a:lnTo>
                  <a:pt x="4221" y="7050187"/>
                </a:lnTo>
                <a:lnTo>
                  <a:pt x="0" y="6990520"/>
                </a:lnTo>
                <a:lnTo>
                  <a:pt x="0" y="188915"/>
                </a:lnTo>
                <a:lnTo>
                  <a:pt x="4221" y="129248"/>
                </a:lnTo>
                <a:lnTo>
                  <a:pt x="15970" y="77395"/>
                </a:lnTo>
                <a:lnTo>
                  <a:pt x="33879" y="36483"/>
                </a:lnTo>
                <a:lnTo>
                  <a:pt x="82697" y="0"/>
                </a:lnTo>
                <a:lnTo>
                  <a:pt x="108816" y="9642"/>
                </a:lnTo>
                <a:lnTo>
                  <a:pt x="131514" y="36483"/>
                </a:lnTo>
                <a:lnTo>
                  <a:pt x="149423" y="77395"/>
                </a:lnTo>
                <a:lnTo>
                  <a:pt x="161172" y="129248"/>
                </a:lnTo>
                <a:lnTo>
                  <a:pt x="165393" y="188915"/>
                </a:lnTo>
                <a:lnTo>
                  <a:pt x="165393" y="6990520"/>
                </a:lnTo>
                <a:lnTo>
                  <a:pt x="161172" y="7050187"/>
                </a:lnTo>
                <a:lnTo>
                  <a:pt x="149423" y="7102041"/>
                </a:lnTo>
                <a:lnTo>
                  <a:pt x="131514" y="7142953"/>
                </a:lnTo>
                <a:lnTo>
                  <a:pt x="83545" y="7179124"/>
                </a:lnTo>
                <a:close/>
              </a:path>
            </a:pathLst>
          </a:custGeom>
          <a:solidFill>
            <a:srgbClr val="4289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09508" y="1581950"/>
            <a:ext cx="7492365" cy="252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5550"/>
              </a:lnSpc>
              <a:spcBef>
                <a:spcPts val="100"/>
              </a:spcBef>
            </a:pPr>
            <a:r>
              <a:rPr dirty="0" sz="4400" spc="155" b="1">
                <a:solidFill>
                  <a:srgbClr val="3B4540"/>
                </a:solidFill>
                <a:latin typeface="Cambria"/>
                <a:cs typeface="Cambria"/>
              </a:rPr>
              <a:t>3.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6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35" b="1">
                <a:solidFill>
                  <a:srgbClr val="3B4540"/>
                </a:solidFill>
                <a:latin typeface="Cambria"/>
                <a:cs typeface="Cambria"/>
              </a:rPr>
              <a:t>Challenge: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365" b="1">
                <a:solidFill>
                  <a:srgbClr val="3B4540"/>
                </a:solidFill>
                <a:latin typeface="Cambria"/>
                <a:cs typeface="Cambria"/>
              </a:rPr>
              <a:t>Why </a:t>
            </a:r>
            <a:r>
              <a:rPr dirty="0" sz="4400" spc="190" b="1">
                <a:solidFill>
                  <a:srgbClr val="3B4540"/>
                </a:solidFill>
                <a:latin typeface="Cambria"/>
                <a:cs typeface="Cambria"/>
              </a:rPr>
              <a:t>detection</a:t>
            </a:r>
            <a:r>
              <a:rPr dirty="0" sz="4400" spc="-1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165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4400" spc="-1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29" b="1">
                <a:solidFill>
                  <a:srgbClr val="3B4540"/>
                </a:solidFill>
                <a:latin typeface="Cambria"/>
                <a:cs typeface="Cambria"/>
              </a:rPr>
              <a:t>getting</a:t>
            </a:r>
            <a:r>
              <a:rPr dirty="0" sz="4400" spc="-1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00" b="1">
                <a:solidFill>
                  <a:srgbClr val="3B4540"/>
                </a:solidFill>
                <a:latin typeface="Cambria"/>
                <a:cs typeface="Cambria"/>
              </a:rPr>
              <a:t>harder</a:t>
            </a:r>
            <a:endParaRPr sz="4400">
              <a:latin typeface="Cambria"/>
              <a:cs typeface="Cambria"/>
            </a:endParaRPr>
          </a:p>
          <a:p>
            <a:pPr marL="12700" marR="288290">
              <a:lnSpc>
                <a:spcPct val="105600"/>
              </a:lnSpc>
              <a:spcBef>
                <a:spcPts val="2860"/>
              </a:spcBef>
            </a:pPr>
            <a:r>
              <a:rPr dirty="0" sz="2250" spc="160" b="1">
                <a:solidFill>
                  <a:srgbClr val="3B4540"/>
                </a:solidFill>
                <a:latin typeface="Cambria"/>
                <a:cs typeface="Cambria"/>
              </a:rPr>
              <a:t>It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a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"cat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and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mouse"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45" b="1">
                <a:solidFill>
                  <a:srgbClr val="3B4540"/>
                </a:solidFill>
                <a:latin typeface="Cambria"/>
                <a:cs typeface="Cambria"/>
              </a:rPr>
              <a:t>game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between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creators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and detectors.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09508" y="4456595"/>
            <a:ext cx="7843520" cy="435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780">
              <a:lnSpc>
                <a:spcPts val="2850"/>
              </a:lnSpc>
              <a:spcBef>
                <a:spcPts val="100"/>
              </a:spcBef>
            </a:pP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Fixing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Flaws: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Every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time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a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scientist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finds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a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5" b="1">
                <a:solidFill>
                  <a:srgbClr val="3B4540"/>
                </a:solidFill>
                <a:latin typeface="Cambria"/>
                <a:cs typeface="Cambria"/>
              </a:rPr>
              <a:t>way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to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spot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a</a:t>
            </a:r>
            <a:r>
              <a:rPr dirty="0" sz="2250" spc="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deepfake</a:t>
            </a:r>
            <a:r>
              <a:rPr dirty="0" sz="2250" spc="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(like</a:t>
            </a:r>
            <a:r>
              <a:rPr dirty="0" sz="2250" spc="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"they</a:t>
            </a:r>
            <a:r>
              <a:rPr dirty="0" sz="2250" spc="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5" b="1">
                <a:solidFill>
                  <a:srgbClr val="3B4540"/>
                </a:solidFill>
                <a:latin typeface="Cambria"/>
                <a:cs typeface="Cambria"/>
              </a:rPr>
              <a:t>don't</a:t>
            </a:r>
            <a:r>
              <a:rPr dirty="0" sz="2250" spc="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0" b="1">
                <a:solidFill>
                  <a:srgbClr val="3B4540"/>
                </a:solidFill>
                <a:latin typeface="Cambria"/>
                <a:cs typeface="Cambria"/>
              </a:rPr>
              <a:t>blink"),</a:t>
            </a:r>
            <a:r>
              <a:rPr dirty="0" sz="2250" spc="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spc="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235" b="1">
                <a:solidFill>
                  <a:srgbClr val="3B4540"/>
                </a:solidFill>
                <a:latin typeface="Cambria"/>
                <a:cs typeface="Cambria"/>
              </a:rPr>
              <a:t>AI</a:t>
            </a:r>
            <a:r>
              <a:rPr dirty="0" sz="2250" spc="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75" b="1">
                <a:solidFill>
                  <a:srgbClr val="3B4540"/>
                </a:solidFill>
                <a:latin typeface="Cambria"/>
                <a:cs typeface="Cambria"/>
              </a:rPr>
              <a:t>developers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simply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update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code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to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make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40" b="1">
                <a:solidFill>
                  <a:srgbClr val="3B4540"/>
                </a:solidFill>
                <a:latin typeface="Cambria"/>
                <a:cs typeface="Cambria"/>
              </a:rPr>
              <a:t>them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blink.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250">
              <a:latin typeface="Cambria"/>
              <a:cs typeface="Cambria"/>
            </a:endParaRPr>
          </a:p>
          <a:p>
            <a:pPr marL="12700" marR="129539">
              <a:lnSpc>
                <a:spcPct val="105600"/>
              </a:lnSpc>
            </a:pP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Social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Media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65" b="1">
                <a:solidFill>
                  <a:srgbClr val="3B4540"/>
                </a:solidFill>
                <a:latin typeface="Cambria"/>
                <a:cs typeface="Cambria"/>
              </a:rPr>
              <a:t>"Noise":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When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a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video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uploaded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to </a:t>
            </a:r>
            <a:r>
              <a:rPr dirty="0" sz="2250" spc="145" b="1">
                <a:solidFill>
                  <a:srgbClr val="3B4540"/>
                </a:solidFill>
                <a:latin typeface="Cambria"/>
                <a:cs typeface="Cambria"/>
              </a:rPr>
              <a:t>Instagram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or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WhatsApp,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quality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compressed.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This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"blurriness"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actually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hides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tiny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digital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errors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that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detection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5" b="1">
                <a:solidFill>
                  <a:srgbClr val="3B4540"/>
                </a:solidFill>
                <a:latin typeface="Cambria"/>
                <a:cs typeface="Cambria"/>
              </a:rPr>
              <a:t>software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looks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for.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250">
              <a:latin typeface="Cambria"/>
              <a:cs typeface="Cambria"/>
            </a:endParaRPr>
          </a:p>
          <a:p>
            <a:pPr algn="just" marL="12700" marR="5080">
              <a:lnSpc>
                <a:spcPct val="105600"/>
              </a:lnSpc>
            </a:pP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Speed</a:t>
            </a:r>
            <a:r>
              <a:rPr dirty="0" sz="225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of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Creation: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40" b="1">
                <a:solidFill>
                  <a:srgbClr val="3B4540"/>
                </a:solidFill>
                <a:latin typeface="Cambria"/>
                <a:cs typeface="Cambria"/>
              </a:rPr>
              <a:t>New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5" b="1">
                <a:solidFill>
                  <a:srgbClr val="3B4540"/>
                </a:solidFill>
                <a:latin typeface="Cambria"/>
                <a:cs typeface="Cambria"/>
              </a:rPr>
              <a:t>versions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70" b="1">
                <a:solidFill>
                  <a:srgbClr val="3B4540"/>
                </a:solidFill>
                <a:latin typeface="Cambria"/>
                <a:cs typeface="Cambria"/>
              </a:rPr>
              <a:t>of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deepfake</a:t>
            </a:r>
            <a:r>
              <a:rPr dirty="0" sz="2250" spc="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software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are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0" b="1">
                <a:solidFill>
                  <a:srgbClr val="3B4540"/>
                </a:solidFill>
                <a:latin typeface="Cambria"/>
                <a:cs typeface="Cambria"/>
              </a:rPr>
              <a:t>released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85" b="1">
                <a:solidFill>
                  <a:srgbClr val="3B4540"/>
                </a:solidFill>
                <a:latin typeface="Cambria"/>
                <a:cs typeface="Cambria"/>
              </a:rPr>
              <a:t>every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60" b="1">
                <a:solidFill>
                  <a:srgbClr val="3B4540"/>
                </a:solidFill>
                <a:latin typeface="Cambria"/>
                <a:cs typeface="Cambria"/>
              </a:rPr>
              <a:t>month,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meaning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0" b="1">
                <a:solidFill>
                  <a:srgbClr val="3B4540"/>
                </a:solidFill>
                <a:latin typeface="Cambria"/>
                <a:cs typeface="Cambria"/>
              </a:rPr>
              <a:t>detection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tools</a:t>
            </a:r>
            <a:r>
              <a:rPr dirty="0" sz="225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65" b="1">
                <a:solidFill>
                  <a:srgbClr val="3B4540"/>
                </a:solidFill>
                <a:latin typeface="Cambria"/>
                <a:cs typeface="Cambria"/>
              </a:rPr>
              <a:t>are </a:t>
            </a:r>
            <a:r>
              <a:rPr dirty="0" sz="2250" spc="130" b="1">
                <a:solidFill>
                  <a:srgbClr val="3B4540"/>
                </a:solidFill>
                <a:latin typeface="Cambria"/>
                <a:cs typeface="Cambria"/>
              </a:rPr>
              <a:t>often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outdated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20" b="1">
                <a:solidFill>
                  <a:srgbClr val="3B4540"/>
                </a:solidFill>
                <a:latin typeface="Cambria"/>
                <a:cs typeface="Cambria"/>
              </a:rPr>
              <a:t>by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the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0" b="1">
                <a:solidFill>
                  <a:srgbClr val="3B4540"/>
                </a:solidFill>
                <a:latin typeface="Cambria"/>
                <a:cs typeface="Cambria"/>
              </a:rPr>
              <a:t>time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14" b="1">
                <a:solidFill>
                  <a:srgbClr val="3B4540"/>
                </a:solidFill>
                <a:latin typeface="Cambria"/>
                <a:cs typeface="Cambria"/>
              </a:rPr>
              <a:t>they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90" b="1">
                <a:solidFill>
                  <a:srgbClr val="3B4540"/>
                </a:solidFill>
                <a:latin typeface="Cambria"/>
                <a:cs typeface="Cambria"/>
              </a:rPr>
              <a:t>are</a:t>
            </a:r>
            <a:r>
              <a:rPr dirty="0" sz="225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250" spc="105" b="1">
                <a:solidFill>
                  <a:srgbClr val="3B4540"/>
                </a:solidFill>
                <a:latin typeface="Cambria"/>
                <a:cs typeface="Cambria"/>
              </a:rPr>
              <a:t>finished.</a:t>
            </a:r>
            <a:endParaRPr sz="2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1225" y="6021664"/>
            <a:ext cx="5391149" cy="3590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837" y="6137899"/>
            <a:ext cx="69455" cy="6945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11994" y="440489"/>
            <a:ext cx="6253480" cy="5683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180"/>
              <a:t>Deepfakes</a:t>
            </a:r>
            <a:r>
              <a:rPr dirty="0" sz="3550" spc="-20"/>
              <a:t> </a:t>
            </a:r>
            <a:r>
              <a:rPr dirty="0" sz="3550" spc="175"/>
              <a:t>and</a:t>
            </a:r>
            <a:r>
              <a:rPr dirty="0" sz="3550" spc="-15"/>
              <a:t> </a:t>
            </a:r>
            <a:r>
              <a:rPr dirty="0" sz="3550" spc="180"/>
              <a:t>Misuse</a:t>
            </a:r>
            <a:r>
              <a:rPr dirty="0" sz="3550" spc="-20"/>
              <a:t> </a:t>
            </a:r>
            <a:r>
              <a:rPr dirty="0" sz="3550" spc="250"/>
              <a:t>of</a:t>
            </a:r>
            <a:r>
              <a:rPr dirty="0" sz="3550" spc="-15"/>
              <a:t> </a:t>
            </a:r>
            <a:r>
              <a:rPr dirty="0" sz="3550" spc="325"/>
              <a:t>AI</a:t>
            </a:r>
            <a:endParaRPr sz="355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424" y="1254474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9573" y="1041577"/>
            <a:ext cx="9211310" cy="8386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325" marR="60325">
              <a:lnSpc>
                <a:spcPct val="121600"/>
              </a:lnSpc>
              <a:spcBef>
                <a:spcPts val="95"/>
              </a:spcBef>
            </a:pP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Deepfakes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are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synthetic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media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created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using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artificial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intelligence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techniques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such</a:t>
            </a:r>
            <a:r>
              <a:rPr dirty="0" sz="1850" spc="2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deep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learning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to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manipulate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or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generate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realistic</a:t>
            </a:r>
            <a:r>
              <a:rPr dirty="0" sz="1850" spc="2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images,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videos,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or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audio</a:t>
            </a:r>
            <a:r>
              <a:rPr dirty="0" sz="1850" spc="2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of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people.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While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technology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has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legitimate</a:t>
            </a:r>
            <a:r>
              <a:rPr dirty="0" sz="1850" spc="2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uses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entertainment,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education,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accessibility,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it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increasingly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misused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for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harmful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purposes.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Common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abuses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include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creating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non-consensual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explicit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content,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spreading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political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misinformation,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committing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fraud,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enabling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identity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theft.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The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growing accessibility of deepfake tools—through open-source software and </a:t>
            </a:r>
            <a:r>
              <a:rPr dirty="0" sz="1850" spc="-20" b="1">
                <a:solidFill>
                  <a:srgbClr val="405349"/>
                </a:solidFill>
                <a:latin typeface="Arial"/>
                <a:cs typeface="Arial"/>
              </a:rPr>
              <a:t>pre-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trained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models—has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lowered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technical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barrier,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allowing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even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non-experts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to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produce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convincing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fake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content.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This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rapid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proliferation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raises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serious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ethical,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social,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legal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concerns,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deepfakes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undermine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trust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digital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media,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damage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reputations,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outpace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current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detection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methods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regulatory frameworks.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4135"/>
              </a:lnSpc>
            </a:pPr>
            <a:r>
              <a:rPr dirty="0" sz="3550" spc="310" b="1">
                <a:solidFill>
                  <a:srgbClr val="3B4540"/>
                </a:solidFill>
                <a:latin typeface="Cambria"/>
                <a:cs typeface="Cambria"/>
              </a:rPr>
              <a:t>How</a:t>
            </a:r>
            <a:r>
              <a:rPr dirty="0" sz="355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50" spc="180" b="1">
                <a:solidFill>
                  <a:srgbClr val="3B4540"/>
                </a:solidFill>
                <a:latin typeface="Cambria"/>
                <a:cs typeface="Cambria"/>
              </a:rPr>
              <a:t>Deepfakes</a:t>
            </a:r>
            <a:r>
              <a:rPr dirty="0" sz="355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50" spc="200" b="1">
                <a:solidFill>
                  <a:srgbClr val="3B4540"/>
                </a:solidFill>
                <a:latin typeface="Cambria"/>
                <a:cs typeface="Cambria"/>
              </a:rPr>
              <a:t>Are</a:t>
            </a:r>
            <a:r>
              <a:rPr dirty="0" sz="355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550" spc="170" b="1">
                <a:solidFill>
                  <a:srgbClr val="3B4540"/>
                </a:solidFill>
                <a:latin typeface="Cambria"/>
                <a:cs typeface="Cambria"/>
              </a:rPr>
              <a:t>Created</a:t>
            </a:r>
            <a:endParaRPr sz="3550">
              <a:latin typeface="Cambria"/>
              <a:cs typeface="Cambria"/>
            </a:endParaRPr>
          </a:p>
          <a:p>
            <a:pPr marL="60325" marR="5080">
              <a:lnSpc>
                <a:spcPct val="123200"/>
              </a:lnSpc>
              <a:spcBef>
                <a:spcPts val="1955"/>
              </a:spcBef>
            </a:pP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AI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models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like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GANs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(Generative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Adversarial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Networks)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Autoencoders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are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used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to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create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deepfakes.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process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begins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with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data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collection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of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large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405349"/>
                </a:solidFill>
                <a:latin typeface="Arial"/>
                <a:cs typeface="Arial"/>
              </a:rPr>
              <a:t>sets</a:t>
            </a:r>
            <a:r>
              <a:rPr dirty="0" sz="1850" spc="50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of</a:t>
            </a:r>
            <a:r>
              <a:rPr dirty="0" sz="1850" spc="2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target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images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or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videos.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During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model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training,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generator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creates</a:t>
            </a:r>
            <a:r>
              <a:rPr dirty="0" sz="1850" spc="50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synthetic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content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while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discriminator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evaluates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its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authenticity,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refining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the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results.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In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mapping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blending,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facial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expressions,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movements,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textures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are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transferred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adjusted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for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realism.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Advanced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techniques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can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reproduce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fine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details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like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skin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texture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eye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reflections,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making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synthetic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media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405349"/>
                </a:solidFill>
                <a:latin typeface="Arial"/>
                <a:cs typeface="Arial"/>
              </a:rPr>
              <a:t>hard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to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distinguish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from</a:t>
            </a:r>
            <a:r>
              <a:rPr dirty="0" sz="1850" spc="3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real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footage.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These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methods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can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also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be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applied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to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voice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cloning,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full-body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reenactments,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style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transfers,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demonstrating</a:t>
            </a:r>
            <a:r>
              <a:rPr dirty="0" sz="1850" spc="5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both</a:t>
            </a:r>
            <a:r>
              <a:rPr dirty="0" sz="1850" spc="4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405349"/>
                </a:solidFill>
                <a:latin typeface="Arial"/>
                <a:cs typeface="Arial"/>
              </a:rPr>
              <a:t>the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power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and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potential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misuse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of</a:t>
            </a:r>
            <a:r>
              <a:rPr dirty="0" sz="1850" spc="40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405349"/>
                </a:solidFill>
                <a:latin typeface="Arial"/>
                <a:cs typeface="Arial"/>
              </a:rPr>
              <a:t>AI-generated</a:t>
            </a:r>
            <a:r>
              <a:rPr dirty="0" sz="1850" spc="35" b="1">
                <a:solidFill>
                  <a:srgbClr val="405349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405349"/>
                </a:solidFill>
                <a:latin typeface="Arial"/>
                <a:cs typeface="Arial"/>
              </a:rPr>
              <a:t>content.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924478" y="1506627"/>
            <a:ext cx="5457825" cy="3638550"/>
            <a:chOff x="10924478" y="1506627"/>
            <a:chExt cx="5457825" cy="363855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13504" y="1661676"/>
              <a:ext cx="4495799" cy="29908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24478" y="1506627"/>
              <a:ext cx="5457824" cy="3638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6882" rIns="0" bIns="0" rtlCol="0" vert="horz">
            <a:spAutoFit/>
          </a:bodyPr>
          <a:lstStyle/>
          <a:p>
            <a:pPr marL="3345179">
              <a:lnSpc>
                <a:spcPct val="100000"/>
              </a:lnSpc>
              <a:spcBef>
                <a:spcPts val="135"/>
              </a:spcBef>
            </a:pPr>
            <a:r>
              <a:rPr dirty="0" spc="235"/>
              <a:t>Threats</a:t>
            </a:r>
            <a:r>
              <a:rPr dirty="0" spc="-20"/>
              <a:t> </a:t>
            </a:r>
            <a:r>
              <a:rPr dirty="0" spc="210"/>
              <a:t>to</a:t>
            </a:r>
            <a:r>
              <a:rPr dirty="0" spc="-15"/>
              <a:t> </a:t>
            </a:r>
            <a:r>
              <a:rPr dirty="0" spc="240"/>
              <a:t>Society</a:t>
            </a:r>
            <a:r>
              <a:rPr dirty="0" spc="-15"/>
              <a:t> </a:t>
            </a:r>
            <a:r>
              <a:rPr dirty="0" spc="229"/>
              <a:t>and</a:t>
            </a:r>
            <a:r>
              <a:rPr dirty="0" spc="-15"/>
              <a:t> </a:t>
            </a:r>
            <a:r>
              <a:rPr dirty="0" spc="195"/>
              <a:t>Individuals</a:t>
            </a:r>
          </a:p>
        </p:txBody>
      </p:sp>
      <p:sp>
        <p:nvSpPr>
          <p:cNvPr id="3" name="object 3"/>
          <p:cNvSpPr/>
          <p:nvPr/>
        </p:nvSpPr>
        <p:spPr>
          <a:xfrm>
            <a:off x="992238" y="4018654"/>
            <a:ext cx="5245735" cy="4365625"/>
          </a:xfrm>
          <a:custGeom>
            <a:avLst/>
            <a:gdLst/>
            <a:ahLst/>
            <a:cxnLst/>
            <a:rect l="l" t="t" r="r" b="b"/>
            <a:pathLst>
              <a:path w="5245735" h="4365625">
                <a:moveTo>
                  <a:pt x="5062537" y="4365116"/>
                </a:moveTo>
                <a:lnTo>
                  <a:pt x="182879" y="4365116"/>
                </a:lnTo>
                <a:lnTo>
                  <a:pt x="134276" y="4358581"/>
                </a:lnTo>
                <a:lnTo>
                  <a:pt x="90593" y="4340140"/>
                </a:lnTo>
                <a:lnTo>
                  <a:pt x="53578" y="4311538"/>
                </a:lnTo>
                <a:lnTo>
                  <a:pt x="24976" y="4274523"/>
                </a:lnTo>
                <a:lnTo>
                  <a:pt x="6535" y="4230840"/>
                </a:lnTo>
                <a:lnTo>
                  <a:pt x="0" y="4182236"/>
                </a:lnTo>
                <a:lnTo>
                  <a:pt x="0" y="182879"/>
                </a:lnTo>
                <a:lnTo>
                  <a:pt x="6535" y="134276"/>
                </a:lnTo>
                <a:lnTo>
                  <a:pt x="24976" y="90593"/>
                </a:lnTo>
                <a:lnTo>
                  <a:pt x="53578" y="53578"/>
                </a:lnTo>
                <a:lnTo>
                  <a:pt x="90593" y="24976"/>
                </a:lnTo>
                <a:lnTo>
                  <a:pt x="134276" y="6535"/>
                </a:lnTo>
                <a:lnTo>
                  <a:pt x="182879" y="0"/>
                </a:lnTo>
                <a:lnTo>
                  <a:pt x="5062537" y="0"/>
                </a:lnTo>
                <a:lnTo>
                  <a:pt x="5111141" y="6535"/>
                </a:lnTo>
                <a:lnTo>
                  <a:pt x="5154824" y="24976"/>
                </a:lnTo>
                <a:lnTo>
                  <a:pt x="5191839" y="53578"/>
                </a:lnTo>
                <a:lnTo>
                  <a:pt x="5220440" y="90593"/>
                </a:lnTo>
                <a:lnTo>
                  <a:pt x="5238882" y="134276"/>
                </a:lnTo>
                <a:lnTo>
                  <a:pt x="5245417" y="182879"/>
                </a:lnTo>
                <a:lnTo>
                  <a:pt x="5245417" y="4182236"/>
                </a:lnTo>
                <a:lnTo>
                  <a:pt x="5238882" y="4230840"/>
                </a:lnTo>
                <a:lnTo>
                  <a:pt x="5220440" y="4274523"/>
                </a:lnTo>
                <a:lnTo>
                  <a:pt x="5191839" y="4311538"/>
                </a:lnTo>
                <a:lnTo>
                  <a:pt x="5154824" y="4340140"/>
                </a:lnTo>
                <a:lnTo>
                  <a:pt x="5111141" y="4358581"/>
                </a:lnTo>
                <a:lnTo>
                  <a:pt x="5062537" y="4365116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92238" y="2502693"/>
            <a:ext cx="7600315" cy="850900"/>
            <a:chOff x="992238" y="2502693"/>
            <a:chExt cx="7600315" cy="850900"/>
          </a:xfrm>
        </p:grpSpPr>
        <p:sp>
          <p:nvSpPr>
            <p:cNvPr id="5" name="object 5"/>
            <p:cNvSpPr/>
            <p:nvPr/>
          </p:nvSpPr>
          <p:spPr>
            <a:xfrm>
              <a:off x="992225" y="2502699"/>
              <a:ext cx="7600315" cy="850900"/>
            </a:xfrm>
            <a:custGeom>
              <a:avLst/>
              <a:gdLst/>
              <a:ahLst/>
              <a:cxnLst/>
              <a:rect l="l" t="t" r="r" b="b"/>
              <a:pathLst>
                <a:path w="7600315" h="850900">
                  <a:moveTo>
                    <a:pt x="7600302" y="484200"/>
                  </a:moveTo>
                  <a:lnTo>
                    <a:pt x="7591793" y="442061"/>
                  </a:lnTo>
                  <a:lnTo>
                    <a:pt x="7568133" y="406971"/>
                  </a:lnTo>
                  <a:lnTo>
                    <a:pt x="7533043" y="383311"/>
                  </a:lnTo>
                  <a:lnTo>
                    <a:pt x="7490053" y="374637"/>
                  </a:lnTo>
                  <a:lnTo>
                    <a:pt x="4072140" y="374637"/>
                  </a:lnTo>
                  <a:lnTo>
                    <a:pt x="4065549" y="334060"/>
                  </a:lnTo>
                  <a:lnTo>
                    <a:pt x="4053675" y="290868"/>
                  </a:lnTo>
                  <a:lnTo>
                    <a:pt x="4037495" y="249643"/>
                  </a:lnTo>
                  <a:lnTo>
                    <a:pt x="4017289" y="210642"/>
                  </a:lnTo>
                  <a:lnTo>
                    <a:pt x="3993299" y="174117"/>
                  </a:lnTo>
                  <a:lnTo>
                    <a:pt x="3965791" y="140347"/>
                  </a:lnTo>
                  <a:lnTo>
                    <a:pt x="3935006" y="109562"/>
                  </a:lnTo>
                  <a:lnTo>
                    <a:pt x="3901236" y="82054"/>
                  </a:lnTo>
                  <a:lnTo>
                    <a:pt x="3864711" y="58064"/>
                  </a:lnTo>
                  <a:lnTo>
                    <a:pt x="3825710" y="37858"/>
                  </a:lnTo>
                  <a:lnTo>
                    <a:pt x="3784485" y="21678"/>
                  </a:lnTo>
                  <a:lnTo>
                    <a:pt x="3741293" y="9804"/>
                  </a:lnTo>
                  <a:lnTo>
                    <a:pt x="3696398" y="2489"/>
                  </a:lnTo>
                  <a:lnTo>
                    <a:pt x="3650056" y="0"/>
                  </a:lnTo>
                  <a:lnTo>
                    <a:pt x="3603726" y="2489"/>
                  </a:lnTo>
                  <a:lnTo>
                    <a:pt x="3558819" y="9804"/>
                  </a:lnTo>
                  <a:lnTo>
                    <a:pt x="3515639" y="21678"/>
                  </a:lnTo>
                  <a:lnTo>
                    <a:pt x="3474415" y="37858"/>
                  </a:lnTo>
                  <a:lnTo>
                    <a:pt x="3435413" y="58064"/>
                  </a:lnTo>
                  <a:lnTo>
                    <a:pt x="3398888" y="82054"/>
                  </a:lnTo>
                  <a:lnTo>
                    <a:pt x="3365106" y="109562"/>
                  </a:lnTo>
                  <a:lnTo>
                    <a:pt x="3334334" y="140347"/>
                  </a:lnTo>
                  <a:lnTo>
                    <a:pt x="3306826" y="174117"/>
                  </a:lnTo>
                  <a:lnTo>
                    <a:pt x="3282835" y="210642"/>
                  </a:lnTo>
                  <a:lnTo>
                    <a:pt x="3262617" y="249643"/>
                  </a:lnTo>
                  <a:lnTo>
                    <a:pt x="3246450" y="290868"/>
                  </a:lnTo>
                  <a:lnTo>
                    <a:pt x="3234575" y="334060"/>
                  </a:lnTo>
                  <a:lnTo>
                    <a:pt x="3227959" y="374637"/>
                  </a:lnTo>
                  <a:lnTo>
                    <a:pt x="110413" y="374637"/>
                  </a:lnTo>
                  <a:lnTo>
                    <a:pt x="67437" y="383311"/>
                  </a:lnTo>
                  <a:lnTo>
                    <a:pt x="32334" y="406971"/>
                  </a:lnTo>
                  <a:lnTo>
                    <a:pt x="8674" y="442061"/>
                  </a:lnTo>
                  <a:lnTo>
                    <a:pt x="0" y="485051"/>
                  </a:lnTo>
                  <a:lnTo>
                    <a:pt x="8674" y="528040"/>
                  </a:lnTo>
                  <a:lnTo>
                    <a:pt x="32334" y="563130"/>
                  </a:lnTo>
                  <a:lnTo>
                    <a:pt x="67437" y="586790"/>
                  </a:lnTo>
                  <a:lnTo>
                    <a:pt x="110413" y="595464"/>
                  </a:lnTo>
                  <a:lnTo>
                    <a:pt x="3260458" y="595464"/>
                  </a:lnTo>
                  <a:lnTo>
                    <a:pt x="3262617" y="600938"/>
                  </a:lnTo>
                  <a:lnTo>
                    <a:pt x="3282835" y="639940"/>
                  </a:lnTo>
                  <a:lnTo>
                    <a:pt x="3306826" y="676465"/>
                  </a:lnTo>
                  <a:lnTo>
                    <a:pt x="3334334" y="710234"/>
                  </a:lnTo>
                  <a:lnTo>
                    <a:pt x="3365106" y="741019"/>
                  </a:lnTo>
                  <a:lnTo>
                    <a:pt x="3398888" y="768527"/>
                  </a:lnTo>
                  <a:lnTo>
                    <a:pt x="3435413" y="792518"/>
                  </a:lnTo>
                  <a:lnTo>
                    <a:pt x="3474415" y="812723"/>
                  </a:lnTo>
                  <a:lnTo>
                    <a:pt x="3515639" y="828903"/>
                  </a:lnTo>
                  <a:lnTo>
                    <a:pt x="3558819" y="840778"/>
                  </a:lnTo>
                  <a:lnTo>
                    <a:pt x="3603726" y="848093"/>
                  </a:lnTo>
                  <a:lnTo>
                    <a:pt x="3650056" y="850582"/>
                  </a:lnTo>
                  <a:lnTo>
                    <a:pt x="3696398" y="848093"/>
                  </a:lnTo>
                  <a:lnTo>
                    <a:pt x="3741293" y="840778"/>
                  </a:lnTo>
                  <a:lnTo>
                    <a:pt x="3784485" y="828903"/>
                  </a:lnTo>
                  <a:lnTo>
                    <a:pt x="3825710" y="812723"/>
                  </a:lnTo>
                  <a:lnTo>
                    <a:pt x="3864711" y="792518"/>
                  </a:lnTo>
                  <a:lnTo>
                    <a:pt x="3901236" y="768527"/>
                  </a:lnTo>
                  <a:lnTo>
                    <a:pt x="3935006" y="741019"/>
                  </a:lnTo>
                  <a:lnTo>
                    <a:pt x="3965791" y="710234"/>
                  </a:lnTo>
                  <a:lnTo>
                    <a:pt x="3993299" y="676465"/>
                  </a:lnTo>
                  <a:lnTo>
                    <a:pt x="4017289" y="639940"/>
                  </a:lnTo>
                  <a:lnTo>
                    <a:pt x="4037495" y="600938"/>
                  </a:lnTo>
                  <a:lnTo>
                    <a:pt x="4039641" y="595464"/>
                  </a:lnTo>
                  <a:lnTo>
                    <a:pt x="7490053" y="595464"/>
                  </a:lnTo>
                  <a:lnTo>
                    <a:pt x="7533043" y="586790"/>
                  </a:lnTo>
                  <a:lnTo>
                    <a:pt x="7568133" y="563130"/>
                  </a:lnTo>
                  <a:lnTo>
                    <a:pt x="7591793" y="528040"/>
                  </a:lnTo>
                  <a:lnTo>
                    <a:pt x="7600302" y="485914"/>
                  </a:lnTo>
                  <a:lnTo>
                    <a:pt x="7600302" y="484200"/>
                  </a:lnTo>
                  <a:close/>
                </a:path>
              </a:pathLst>
            </a:custGeom>
            <a:solidFill>
              <a:srgbClr val="4289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88424" y="2757935"/>
              <a:ext cx="310515" cy="342900"/>
            </a:xfrm>
            <a:custGeom>
              <a:avLst/>
              <a:gdLst/>
              <a:ahLst/>
              <a:cxnLst/>
              <a:rect l="l" t="t" r="r" b="b"/>
              <a:pathLst>
                <a:path w="310514" h="342900">
                  <a:moveTo>
                    <a:pt x="264204" y="124676"/>
                  </a:moveTo>
                  <a:lnTo>
                    <a:pt x="261005" y="125241"/>
                  </a:lnTo>
                  <a:lnTo>
                    <a:pt x="258398" y="125204"/>
                  </a:lnTo>
                  <a:lnTo>
                    <a:pt x="255934" y="124706"/>
                  </a:lnTo>
                  <a:lnTo>
                    <a:pt x="245168" y="109081"/>
                  </a:lnTo>
                  <a:lnTo>
                    <a:pt x="245835" y="106152"/>
                  </a:lnTo>
                  <a:lnTo>
                    <a:pt x="260217" y="95530"/>
                  </a:lnTo>
                  <a:lnTo>
                    <a:pt x="263343" y="95939"/>
                  </a:lnTo>
                  <a:lnTo>
                    <a:pt x="274883" y="110776"/>
                  </a:lnTo>
                  <a:lnTo>
                    <a:pt x="274603" y="113652"/>
                  </a:lnTo>
                  <a:lnTo>
                    <a:pt x="272606" y="122750"/>
                  </a:lnTo>
                </a:path>
                <a:path w="310514" h="342900">
                  <a:moveTo>
                    <a:pt x="302528" y="165921"/>
                  </a:moveTo>
                  <a:lnTo>
                    <a:pt x="284876" y="135389"/>
                  </a:lnTo>
                  <a:lnTo>
                    <a:pt x="272566" y="122931"/>
                  </a:lnTo>
                </a:path>
                <a:path w="310514" h="342900">
                  <a:moveTo>
                    <a:pt x="57857" y="142845"/>
                  </a:moveTo>
                  <a:lnTo>
                    <a:pt x="35401" y="172388"/>
                  </a:lnTo>
                  <a:lnTo>
                    <a:pt x="34953" y="176696"/>
                  </a:lnTo>
                </a:path>
                <a:path w="310514" h="342900">
                  <a:moveTo>
                    <a:pt x="190849" y="0"/>
                  </a:moveTo>
                  <a:lnTo>
                    <a:pt x="191618" y="513"/>
                  </a:lnTo>
                  <a:lnTo>
                    <a:pt x="194640" y="2994"/>
                  </a:lnTo>
                  <a:lnTo>
                    <a:pt x="197418" y="5772"/>
                  </a:lnTo>
                  <a:lnTo>
                    <a:pt x="200196" y="8550"/>
                  </a:lnTo>
                  <a:lnTo>
                    <a:pt x="202677" y="11572"/>
                  </a:lnTo>
                  <a:lnTo>
                    <a:pt x="204859" y="14839"/>
                  </a:lnTo>
                  <a:lnTo>
                    <a:pt x="207042" y="18106"/>
                  </a:lnTo>
                  <a:lnTo>
                    <a:pt x="208885" y="21554"/>
                  </a:lnTo>
                  <a:lnTo>
                    <a:pt x="210389" y="25184"/>
                  </a:lnTo>
                  <a:lnTo>
                    <a:pt x="211892" y="28813"/>
                  </a:lnTo>
                  <a:lnTo>
                    <a:pt x="214943" y="48082"/>
                  </a:lnTo>
                  <a:lnTo>
                    <a:pt x="214943" y="52010"/>
                  </a:lnTo>
                  <a:lnTo>
                    <a:pt x="214560" y="55901"/>
                  </a:lnTo>
                  <a:lnTo>
                    <a:pt x="213794" y="59755"/>
                  </a:lnTo>
                  <a:lnTo>
                    <a:pt x="213027" y="63608"/>
                  </a:lnTo>
                  <a:lnTo>
                    <a:pt x="204859" y="81324"/>
                  </a:lnTo>
                  <a:lnTo>
                    <a:pt x="202677" y="84591"/>
                  </a:lnTo>
                  <a:lnTo>
                    <a:pt x="188351" y="97832"/>
                  </a:lnTo>
                  <a:lnTo>
                    <a:pt x="185084" y="100015"/>
                  </a:lnTo>
                  <a:lnTo>
                    <a:pt x="155108" y="107916"/>
                  </a:lnTo>
                  <a:lnTo>
                    <a:pt x="151180" y="107916"/>
                  </a:lnTo>
                  <a:lnTo>
                    <a:pt x="132211" y="103362"/>
                  </a:lnTo>
                  <a:lnTo>
                    <a:pt x="128581" y="101858"/>
                  </a:lnTo>
                  <a:lnTo>
                    <a:pt x="125133" y="100015"/>
                  </a:lnTo>
                  <a:lnTo>
                    <a:pt x="121866" y="97832"/>
                  </a:lnTo>
                  <a:lnTo>
                    <a:pt x="118599" y="95650"/>
                  </a:lnTo>
                  <a:lnTo>
                    <a:pt x="115577" y="93169"/>
                  </a:lnTo>
                  <a:lnTo>
                    <a:pt x="112799" y="90391"/>
                  </a:lnTo>
                  <a:lnTo>
                    <a:pt x="110021" y="87613"/>
                  </a:lnTo>
                  <a:lnTo>
                    <a:pt x="99828" y="70979"/>
                  </a:lnTo>
                  <a:lnTo>
                    <a:pt x="98325" y="67350"/>
                  </a:lnTo>
                  <a:lnTo>
                    <a:pt x="97190" y="63608"/>
                  </a:lnTo>
                  <a:lnTo>
                    <a:pt x="96423" y="59755"/>
                  </a:lnTo>
                  <a:lnTo>
                    <a:pt x="95657" y="55901"/>
                  </a:lnTo>
                  <a:lnTo>
                    <a:pt x="95273" y="52010"/>
                  </a:lnTo>
                  <a:lnTo>
                    <a:pt x="95273" y="48082"/>
                  </a:lnTo>
                  <a:lnTo>
                    <a:pt x="95273" y="44153"/>
                  </a:lnTo>
                  <a:lnTo>
                    <a:pt x="95657" y="40262"/>
                  </a:lnTo>
                  <a:lnTo>
                    <a:pt x="96423" y="36408"/>
                  </a:lnTo>
                  <a:lnTo>
                    <a:pt x="97190" y="32555"/>
                  </a:lnTo>
                  <a:lnTo>
                    <a:pt x="98325" y="28813"/>
                  </a:lnTo>
                  <a:lnTo>
                    <a:pt x="99828" y="25184"/>
                  </a:lnTo>
                  <a:lnTo>
                    <a:pt x="101332" y="21554"/>
                  </a:lnTo>
                  <a:lnTo>
                    <a:pt x="112799" y="5772"/>
                  </a:lnTo>
                  <a:lnTo>
                    <a:pt x="115577" y="2994"/>
                  </a:lnTo>
                  <a:lnTo>
                    <a:pt x="118599" y="513"/>
                  </a:lnTo>
                  <a:lnTo>
                    <a:pt x="119368" y="0"/>
                  </a:lnTo>
                </a:path>
                <a:path w="310514" h="342900">
                  <a:moveTo>
                    <a:pt x="310385" y="220061"/>
                  </a:moveTo>
                  <a:lnTo>
                    <a:pt x="0" y="219842"/>
                  </a:lnTo>
                </a:path>
                <a:path w="310514" h="342900">
                  <a:moveTo>
                    <a:pt x="310385" y="220061"/>
                  </a:moveTo>
                  <a:lnTo>
                    <a:pt x="303339" y="271827"/>
                  </a:lnTo>
                  <a:lnTo>
                    <a:pt x="7354" y="271912"/>
                  </a:lnTo>
                  <a:lnTo>
                    <a:pt x="0" y="219842"/>
                  </a:lnTo>
                </a:path>
                <a:path w="310514" h="342900">
                  <a:moveTo>
                    <a:pt x="169351" y="183572"/>
                  </a:moveTo>
                  <a:lnTo>
                    <a:pt x="161433" y="152523"/>
                  </a:lnTo>
                </a:path>
                <a:path w="310514" h="342900">
                  <a:moveTo>
                    <a:pt x="173605" y="177872"/>
                  </a:moveTo>
                  <a:lnTo>
                    <a:pt x="154860" y="215327"/>
                  </a:lnTo>
                  <a:lnTo>
                    <a:pt x="136158" y="176940"/>
                  </a:lnTo>
                </a:path>
                <a:path w="310514" h="342900">
                  <a:moveTo>
                    <a:pt x="149232" y="153563"/>
                  </a:moveTo>
                  <a:lnTo>
                    <a:pt x="140456" y="185199"/>
                  </a:lnTo>
                </a:path>
                <a:path w="310514" h="342900">
                  <a:moveTo>
                    <a:pt x="166581" y="133481"/>
                  </a:moveTo>
                  <a:lnTo>
                    <a:pt x="143208" y="133466"/>
                  </a:lnTo>
                </a:path>
                <a:path w="310514" h="342900">
                  <a:moveTo>
                    <a:pt x="166581" y="133481"/>
                  </a:moveTo>
                  <a:lnTo>
                    <a:pt x="161433" y="152523"/>
                  </a:lnTo>
                </a:path>
                <a:path w="310514" h="342900">
                  <a:moveTo>
                    <a:pt x="149232" y="153563"/>
                  </a:moveTo>
                  <a:lnTo>
                    <a:pt x="143208" y="133466"/>
                  </a:lnTo>
                </a:path>
                <a:path w="310514" h="342900">
                  <a:moveTo>
                    <a:pt x="275526" y="219842"/>
                  </a:moveTo>
                  <a:lnTo>
                    <a:pt x="275520" y="177429"/>
                  </a:lnTo>
                </a:path>
                <a:path w="310514" h="342900">
                  <a:moveTo>
                    <a:pt x="197134" y="119655"/>
                  </a:moveTo>
                  <a:lnTo>
                    <a:pt x="171239" y="184170"/>
                  </a:lnTo>
                </a:path>
                <a:path w="310514" h="342900">
                  <a:moveTo>
                    <a:pt x="113123" y="119743"/>
                  </a:moveTo>
                  <a:lnTo>
                    <a:pt x="57857" y="142845"/>
                  </a:lnTo>
                </a:path>
                <a:path w="310514" h="342900">
                  <a:moveTo>
                    <a:pt x="139108" y="184606"/>
                  </a:moveTo>
                  <a:lnTo>
                    <a:pt x="113123" y="119743"/>
                  </a:lnTo>
                </a:path>
                <a:path w="310514" h="342900">
                  <a:moveTo>
                    <a:pt x="302581" y="219869"/>
                  </a:moveTo>
                  <a:lnTo>
                    <a:pt x="302528" y="165921"/>
                  </a:lnTo>
                </a:path>
                <a:path w="310514" h="342900">
                  <a:moveTo>
                    <a:pt x="33356" y="342899"/>
                  </a:moveTo>
                  <a:lnTo>
                    <a:pt x="33306" y="271967"/>
                  </a:lnTo>
                </a:path>
                <a:path w="310514" h="342900">
                  <a:moveTo>
                    <a:pt x="277217" y="271962"/>
                  </a:moveTo>
                  <a:lnTo>
                    <a:pt x="277243" y="342899"/>
                  </a:lnTo>
                </a:path>
                <a:path w="310514" h="342900">
                  <a:moveTo>
                    <a:pt x="34953" y="176696"/>
                  </a:moveTo>
                  <a:lnTo>
                    <a:pt x="34946" y="219826"/>
                  </a:lnTo>
                </a:path>
                <a:path w="310514" h="342900">
                  <a:moveTo>
                    <a:pt x="264204" y="124676"/>
                  </a:moveTo>
                  <a:lnTo>
                    <a:pt x="272426" y="122791"/>
                  </a:lnTo>
                </a:path>
                <a:path w="310514" h="342900">
                  <a:moveTo>
                    <a:pt x="275660" y="177427"/>
                  </a:moveTo>
                  <a:lnTo>
                    <a:pt x="266336" y="152648"/>
                  </a:lnTo>
                  <a:lnTo>
                    <a:pt x="263382" y="149189"/>
                  </a:lnTo>
                  <a:lnTo>
                    <a:pt x="259929" y="146336"/>
                  </a:lnTo>
                  <a:lnTo>
                    <a:pt x="255976" y="144087"/>
                  </a:lnTo>
                  <a:lnTo>
                    <a:pt x="252022" y="141839"/>
                  </a:lnTo>
                  <a:lnTo>
                    <a:pt x="247805" y="140329"/>
                  </a:lnTo>
                  <a:lnTo>
                    <a:pt x="243322" y="139558"/>
                  </a:lnTo>
                </a:path>
                <a:path w="310514" h="342900">
                  <a:moveTo>
                    <a:pt x="243439" y="138883"/>
                  </a:moveTo>
                  <a:lnTo>
                    <a:pt x="197134" y="119655"/>
                  </a:lnTo>
                </a:path>
              </a:pathLst>
            </a:custGeom>
            <a:ln w="162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16000" y="4238219"/>
            <a:ext cx="7204075" cy="454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85115">
              <a:lnSpc>
                <a:spcPct val="100000"/>
              </a:lnSpc>
              <a:spcBef>
                <a:spcPts val="100"/>
              </a:spcBef>
            </a:pPr>
            <a:r>
              <a:rPr dirty="0" sz="2750" spc="125" b="1">
                <a:solidFill>
                  <a:srgbClr val="405349"/>
                </a:solidFill>
                <a:latin typeface="Cambria"/>
                <a:cs typeface="Cambria"/>
              </a:rPr>
              <a:t>Problem:</a:t>
            </a:r>
            <a:r>
              <a:rPr dirty="0" sz="2750" spc="-1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750" spc="130" b="1">
                <a:solidFill>
                  <a:srgbClr val="405349"/>
                </a:solidFill>
                <a:latin typeface="Cambria"/>
                <a:cs typeface="Cambria"/>
              </a:rPr>
              <a:t>Misuse</a:t>
            </a:r>
            <a:r>
              <a:rPr dirty="0" sz="27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750" spc="185" b="1">
                <a:solidFill>
                  <a:srgbClr val="405349"/>
                </a:solidFill>
                <a:latin typeface="Cambria"/>
                <a:cs typeface="Cambria"/>
              </a:rPr>
              <a:t>of</a:t>
            </a:r>
            <a:r>
              <a:rPr dirty="0" sz="2750" spc="-1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750" spc="260" b="1">
                <a:solidFill>
                  <a:srgbClr val="405349"/>
                </a:solidFill>
                <a:latin typeface="Cambria"/>
                <a:cs typeface="Cambria"/>
              </a:rPr>
              <a:t>AI</a:t>
            </a:r>
            <a:r>
              <a:rPr dirty="0" sz="27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2750" spc="114" b="1">
                <a:solidFill>
                  <a:srgbClr val="405349"/>
                </a:solidFill>
                <a:latin typeface="Cambria"/>
                <a:cs typeface="Cambria"/>
              </a:rPr>
              <a:t>Models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models,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particularly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creating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deepfakes,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has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serious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ethical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legal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concerns.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range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from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non-consensual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explicit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to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political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misinformation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identity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theft.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These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issues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compounded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by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challenges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such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difficult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attribution,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slow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legislation,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delays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detection,</a:t>
            </a:r>
            <a:r>
              <a:rPr dirty="0" sz="2150" spc="5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making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hard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hold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perpetrators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accountable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prevent harm.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26974" y="3920606"/>
            <a:ext cx="313690" cy="331470"/>
          </a:xfrm>
          <a:custGeom>
            <a:avLst/>
            <a:gdLst/>
            <a:ahLst/>
            <a:cxnLst/>
            <a:rect l="l" t="t" r="r" b="b"/>
            <a:pathLst>
              <a:path w="313690" h="331470">
                <a:moveTo>
                  <a:pt x="244102" y="272292"/>
                </a:moveTo>
                <a:lnTo>
                  <a:pt x="235414" y="260537"/>
                </a:lnTo>
                <a:lnTo>
                  <a:pt x="235530" y="257963"/>
                </a:lnTo>
                <a:lnTo>
                  <a:pt x="248545" y="246523"/>
                </a:lnTo>
                <a:lnTo>
                  <a:pt x="250707" y="246690"/>
                </a:lnTo>
                <a:lnTo>
                  <a:pt x="261808" y="258964"/>
                </a:lnTo>
                <a:lnTo>
                  <a:pt x="261695" y="261786"/>
                </a:lnTo>
                <a:lnTo>
                  <a:pt x="249169" y="274299"/>
                </a:lnTo>
              </a:path>
              <a:path w="313690" h="331470">
                <a:moveTo>
                  <a:pt x="289899" y="330942"/>
                </a:moveTo>
                <a:lnTo>
                  <a:pt x="313559" y="310757"/>
                </a:lnTo>
                <a:lnTo>
                  <a:pt x="313576" y="302455"/>
                </a:lnTo>
              </a:path>
              <a:path w="313690" h="331470">
                <a:moveTo>
                  <a:pt x="313409" y="225296"/>
                </a:moveTo>
                <a:lnTo>
                  <a:pt x="302778" y="213239"/>
                </a:lnTo>
                <a:lnTo>
                  <a:pt x="294483" y="212994"/>
                </a:lnTo>
              </a:path>
              <a:path w="313690" h="331470">
                <a:moveTo>
                  <a:pt x="195552" y="213122"/>
                </a:moveTo>
                <a:lnTo>
                  <a:pt x="183298" y="227032"/>
                </a:lnTo>
                <a:lnTo>
                  <a:pt x="183260" y="230234"/>
                </a:lnTo>
              </a:path>
              <a:path w="313690" h="331470">
                <a:moveTo>
                  <a:pt x="183474" y="300149"/>
                </a:moveTo>
                <a:lnTo>
                  <a:pt x="183810" y="310485"/>
                </a:lnTo>
                <a:lnTo>
                  <a:pt x="184709" y="315809"/>
                </a:lnTo>
                <a:lnTo>
                  <a:pt x="186290" y="320182"/>
                </a:lnTo>
                <a:lnTo>
                  <a:pt x="191595" y="330768"/>
                </a:lnTo>
              </a:path>
              <a:path w="313690" h="331470">
                <a:moveTo>
                  <a:pt x="283760" y="163411"/>
                </a:moveTo>
                <a:lnTo>
                  <a:pt x="254231" y="137129"/>
                </a:lnTo>
                <a:lnTo>
                  <a:pt x="246962" y="136705"/>
                </a:lnTo>
                <a:lnTo>
                  <a:pt x="243884" y="136982"/>
                </a:lnTo>
                <a:lnTo>
                  <a:pt x="212312" y="166163"/>
                </a:lnTo>
                <a:lnTo>
                  <a:pt x="211038" y="173023"/>
                </a:lnTo>
                <a:lnTo>
                  <a:pt x="210868" y="180373"/>
                </a:lnTo>
              </a:path>
              <a:path w="313690" h="331470">
                <a:moveTo>
                  <a:pt x="0" y="330488"/>
                </a:moveTo>
                <a:lnTo>
                  <a:pt x="289899" y="330942"/>
                </a:lnTo>
              </a:path>
              <a:path w="313690" h="331470">
                <a:moveTo>
                  <a:pt x="210676" y="187835"/>
                </a:moveTo>
                <a:lnTo>
                  <a:pt x="197760" y="180995"/>
                </a:lnTo>
                <a:lnTo>
                  <a:pt x="184310" y="175878"/>
                </a:lnTo>
                <a:lnTo>
                  <a:pt x="170325" y="172485"/>
                </a:lnTo>
                <a:lnTo>
                  <a:pt x="155807" y="170815"/>
                </a:lnTo>
              </a:path>
              <a:path w="313690" h="331470">
                <a:moveTo>
                  <a:pt x="285717" y="212985"/>
                </a:moveTo>
                <a:lnTo>
                  <a:pt x="283760" y="163411"/>
                </a:lnTo>
              </a:path>
              <a:path w="313690" h="331470">
                <a:moveTo>
                  <a:pt x="208164" y="75468"/>
                </a:moveTo>
                <a:lnTo>
                  <a:pt x="208164" y="80423"/>
                </a:lnTo>
                <a:lnTo>
                  <a:pt x="207681" y="85331"/>
                </a:lnTo>
                <a:lnTo>
                  <a:pt x="206715" y="90191"/>
                </a:lnTo>
                <a:lnTo>
                  <a:pt x="205749" y="95051"/>
                </a:lnTo>
                <a:lnTo>
                  <a:pt x="204318" y="99770"/>
                </a:lnTo>
                <a:lnTo>
                  <a:pt x="202422" y="104348"/>
                </a:lnTo>
                <a:lnTo>
                  <a:pt x="200527" y="108926"/>
                </a:lnTo>
                <a:lnTo>
                  <a:pt x="174638" y="138218"/>
                </a:lnTo>
                <a:lnTo>
                  <a:pt x="137681" y="150936"/>
                </a:lnTo>
                <a:lnTo>
                  <a:pt x="132727" y="150936"/>
                </a:lnTo>
                <a:lnTo>
                  <a:pt x="127774" y="150936"/>
                </a:lnTo>
                <a:lnTo>
                  <a:pt x="103859" y="145192"/>
                </a:lnTo>
                <a:lnTo>
                  <a:pt x="99282" y="143295"/>
                </a:lnTo>
                <a:lnTo>
                  <a:pt x="94935" y="140971"/>
                </a:lnTo>
                <a:lnTo>
                  <a:pt x="90817" y="138218"/>
                </a:lnTo>
                <a:lnTo>
                  <a:pt x="86698" y="135465"/>
                </a:lnTo>
                <a:lnTo>
                  <a:pt x="70004" y="117396"/>
                </a:lnTo>
                <a:lnTo>
                  <a:pt x="67252" y="113276"/>
                </a:lnTo>
                <a:lnTo>
                  <a:pt x="58740" y="90191"/>
                </a:lnTo>
                <a:lnTo>
                  <a:pt x="57773" y="85331"/>
                </a:lnTo>
                <a:lnTo>
                  <a:pt x="57290" y="80423"/>
                </a:lnTo>
                <a:lnTo>
                  <a:pt x="57290" y="75468"/>
                </a:lnTo>
                <a:lnTo>
                  <a:pt x="57290" y="70513"/>
                </a:lnTo>
                <a:lnTo>
                  <a:pt x="63032" y="46587"/>
                </a:lnTo>
                <a:lnTo>
                  <a:pt x="64928" y="42009"/>
                </a:lnTo>
                <a:lnTo>
                  <a:pt x="67252" y="37660"/>
                </a:lnTo>
                <a:lnTo>
                  <a:pt x="70004" y="33540"/>
                </a:lnTo>
                <a:lnTo>
                  <a:pt x="72755" y="29420"/>
                </a:lnTo>
                <a:lnTo>
                  <a:pt x="75883" y="25608"/>
                </a:lnTo>
                <a:lnTo>
                  <a:pt x="79385" y="22104"/>
                </a:lnTo>
                <a:lnTo>
                  <a:pt x="82888" y="18600"/>
                </a:lnTo>
                <a:lnTo>
                  <a:pt x="86698" y="15471"/>
                </a:lnTo>
                <a:lnTo>
                  <a:pt x="90817" y="12718"/>
                </a:lnTo>
                <a:lnTo>
                  <a:pt x="94935" y="9965"/>
                </a:lnTo>
                <a:lnTo>
                  <a:pt x="99282" y="7641"/>
                </a:lnTo>
                <a:lnTo>
                  <a:pt x="103859" y="5744"/>
                </a:lnTo>
                <a:lnTo>
                  <a:pt x="108435" y="3848"/>
                </a:lnTo>
                <a:lnTo>
                  <a:pt x="113152" y="2416"/>
                </a:lnTo>
                <a:lnTo>
                  <a:pt x="118010" y="1450"/>
                </a:lnTo>
                <a:lnTo>
                  <a:pt x="122868" y="483"/>
                </a:lnTo>
                <a:lnTo>
                  <a:pt x="127774" y="0"/>
                </a:lnTo>
                <a:lnTo>
                  <a:pt x="132727" y="0"/>
                </a:lnTo>
                <a:lnTo>
                  <a:pt x="137681" y="0"/>
                </a:lnTo>
                <a:lnTo>
                  <a:pt x="142586" y="483"/>
                </a:lnTo>
                <a:lnTo>
                  <a:pt x="147444" y="1450"/>
                </a:lnTo>
                <a:lnTo>
                  <a:pt x="152302" y="2416"/>
                </a:lnTo>
                <a:lnTo>
                  <a:pt x="157020" y="3848"/>
                </a:lnTo>
                <a:lnTo>
                  <a:pt x="161596" y="5744"/>
                </a:lnTo>
                <a:lnTo>
                  <a:pt x="166172" y="7641"/>
                </a:lnTo>
                <a:lnTo>
                  <a:pt x="186069" y="22104"/>
                </a:lnTo>
                <a:lnTo>
                  <a:pt x="189572" y="25608"/>
                </a:lnTo>
                <a:lnTo>
                  <a:pt x="202422" y="46587"/>
                </a:lnTo>
                <a:lnTo>
                  <a:pt x="204318" y="51165"/>
                </a:lnTo>
                <a:lnTo>
                  <a:pt x="205749" y="55885"/>
                </a:lnTo>
                <a:lnTo>
                  <a:pt x="206715" y="60745"/>
                </a:lnTo>
                <a:lnTo>
                  <a:pt x="207681" y="65605"/>
                </a:lnTo>
                <a:lnTo>
                  <a:pt x="208164" y="70513"/>
                </a:lnTo>
                <a:lnTo>
                  <a:pt x="208164" y="75468"/>
                </a:lnTo>
                <a:close/>
              </a:path>
              <a:path w="313690" h="331470">
                <a:moveTo>
                  <a:pt x="248578" y="274576"/>
                </a:moveTo>
                <a:lnTo>
                  <a:pt x="248619" y="301228"/>
                </a:lnTo>
              </a:path>
              <a:path w="313690" h="331470">
                <a:moveTo>
                  <a:pt x="244102" y="272292"/>
                </a:moveTo>
                <a:lnTo>
                  <a:pt x="248577" y="274064"/>
                </a:lnTo>
              </a:path>
              <a:path w="313690" h="331470">
                <a:moveTo>
                  <a:pt x="313576" y="302455"/>
                </a:moveTo>
                <a:lnTo>
                  <a:pt x="313409" y="225296"/>
                </a:lnTo>
              </a:path>
              <a:path w="313690" h="331470">
                <a:moveTo>
                  <a:pt x="294483" y="212994"/>
                </a:moveTo>
                <a:lnTo>
                  <a:pt x="195552" y="213122"/>
                </a:lnTo>
              </a:path>
              <a:path w="313690" h="331470">
                <a:moveTo>
                  <a:pt x="155802" y="170907"/>
                </a:moveTo>
                <a:lnTo>
                  <a:pt x="94106" y="172272"/>
                </a:lnTo>
              </a:path>
              <a:path w="313690" h="331470">
                <a:moveTo>
                  <a:pt x="183260" y="230234"/>
                </a:moveTo>
                <a:lnTo>
                  <a:pt x="183474" y="300149"/>
                </a:lnTo>
              </a:path>
              <a:path w="313690" h="331470">
                <a:moveTo>
                  <a:pt x="94117" y="172335"/>
                </a:moveTo>
                <a:lnTo>
                  <a:pt x="51773" y="188445"/>
                </a:lnTo>
                <a:lnTo>
                  <a:pt x="19303" y="219965"/>
                </a:lnTo>
                <a:lnTo>
                  <a:pt x="1949" y="261765"/>
                </a:lnTo>
                <a:lnTo>
                  <a:pt x="592" y="270813"/>
                </a:lnTo>
              </a:path>
              <a:path w="313690" h="331470">
                <a:moveTo>
                  <a:pt x="675" y="270822"/>
                </a:moveTo>
                <a:lnTo>
                  <a:pt x="0" y="330488"/>
                </a:lnTo>
              </a:path>
              <a:path w="313690" h="331470">
                <a:moveTo>
                  <a:pt x="210868" y="180373"/>
                </a:moveTo>
                <a:lnTo>
                  <a:pt x="210901" y="213038"/>
                </a:lnTo>
              </a:path>
            </a:pathLst>
          </a:custGeom>
          <a:ln w="1466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143999" y="2502769"/>
            <a:ext cx="7600315" cy="850900"/>
            <a:chOff x="9143999" y="2502769"/>
            <a:chExt cx="7600315" cy="850900"/>
          </a:xfrm>
        </p:grpSpPr>
        <p:sp>
          <p:nvSpPr>
            <p:cNvPr id="10" name="object 10"/>
            <p:cNvSpPr/>
            <p:nvPr/>
          </p:nvSpPr>
          <p:spPr>
            <a:xfrm>
              <a:off x="9143988" y="2502775"/>
              <a:ext cx="7600315" cy="850900"/>
            </a:xfrm>
            <a:custGeom>
              <a:avLst/>
              <a:gdLst/>
              <a:ahLst/>
              <a:cxnLst/>
              <a:rect l="l" t="t" r="r" b="b"/>
              <a:pathLst>
                <a:path w="7600315" h="850900">
                  <a:moveTo>
                    <a:pt x="7600289" y="484124"/>
                  </a:moveTo>
                  <a:lnTo>
                    <a:pt x="7591793" y="441985"/>
                  </a:lnTo>
                  <a:lnTo>
                    <a:pt x="7568133" y="406895"/>
                  </a:lnTo>
                  <a:lnTo>
                    <a:pt x="7533043" y="383235"/>
                  </a:lnTo>
                  <a:lnTo>
                    <a:pt x="7490053" y="374561"/>
                  </a:lnTo>
                  <a:lnTo>
                    <a:pt x="4565129" y="374561"/>
                  </a:lnTo>
                  <a:lnTo>
                    <a:pt x="4558538" y="334060"/>
                  </a:lnTo>
                  <a:lnTo>
                    <a:pt x="4546663" y="290868"/>
                  </a:lnTo>
                  <a:lnTo>
                    <a:pt x="4530496" y="249643"/>
                  </a:lnTo>
                  <a:lnTo>
                    <a:pt x="4510290" y="210642"/>
                  </a:lnTo>
                  <a:lnTo>
                    <a:pt x="4486300" y="174117"/>
                  </a:lnTo>
                  <a:lnTo>
                    <a:pt x="4458779" y="140347"/>
                  </a:lnTo>
                  <a:lnTo>
                    <a:pt x="4428007" y="109562"/>
                  </a:lnTo>
                  <a:lnTo>
                    <a:pt x="4394238" y="82054"/>
                  </a:lnTo>
                  <a:lnTo>
                    <a:pt x="4357713" y="58064"/>
                  </a:lnTo>
                  <a:lnTo>
                    <a:pt x="4318711" y="37846"/>
                  </a:lnTo>
                  <a:lnTo>
                    <a:pt x="4277487" y="21678"/>
                  </a:lnTo>
                  <a:lnTo>
                    <a:pt x="4234294" y="9804"/>
                  </a:lnTo>
                  <a:lnTo>
                    <a:pt x="4189399" y="2489"/>
                  </a:lnTo>
                  <a:lnTo>
                    <a:pt x="4143057" y="0"/>
                  </a:lnTo>
                  <a:lnTo>
                    <a:pt x="4096715" y="2489"/>
                  </a:lnTo>
                  <a:lnTo>
                    <a:pt x="4051820" y="9804"/>
                  </a:lnTo>
                  <a:lnTo>
                    <a:pt x="4008628" y="21678"/>
                  </a:lnTo>
                  <a:lnTo>
                    <a:pt x="3967403" y="37846"/>
                  </a:lnTo>
                  <a:lnTo>
                    <a:pt x="3928402" y="58064"/>
                  </a:lnTo>
                  <a:lnTo>
                    <a:pt x="3891889" y="82054"/>
                  </a:lnTo>
                  <a:lnTo>
                    <a:pt x="3858107" y="109562"/>
                  </a:lnTo>
                  <a:lnTo>
                    <a:pt x="3827335" y="140347"/>
                  </a:lnTo>
                  <a:lnTo>
                    <a:pt x="3799827" y="174117"/>
                  </a:lnTo>
                  <a:lnTo>
                    <a:pt x="3775837" y="210642"/>
                  </a:lnTo>
                  <a:lnTo>
                    <a:pt x="3755618" y="249643"/>
                  </a:lnTo>
                  <a:lnTo>
                    <a:pt x="3739451" y="290868"/>
                  </a:lnTo>
                  <a:lnTo>
                    <a:pt x="3727577" y="334060"/>
                  </a:lnTo>
                  <a:lnTo>
                    <a:pt x="3720973" y="374561"/>
                  </a:lnTo>
                  <a:lnTo>
                    <a:pt x="110413" y="374561"/>
                  </a:lnTo>
                  <a:lnTo>
                    <a:pt x="67424" y="383235"/>
                  </a:lnTo>
                  <a:lnTo>
                    <a:pt x="32334" y="406895"/>
                  </a:lnTo>
                  <a:lnTo>
                    <a:pt x="8674" y="441985"/>
                  </a:lnTo>
                  <a:lnTo>
                    <a:pt x="0" y="484974"/>
                  </a:lnTo>
                  <a:lnTo>
                    <a:pt x="8674" y="527964"/>
                  </a:lnTo>
                  <a:lnTo>
                    <a:pt x="32334" y="563054"/>
                  </a:lnTo>
                  <a:lnTo>
                    <a:pt x="67424" y="586714"/>
                  </a:lnTo>
                  <a:lnTo>
                    <a:pt x="110413" y="595388"/>
                  </a:lnTo>
                  <a:lnTo>
                    <a:pt x="3753434" y="595388"/>
                  </a:lnTo>
                  <a:lnTo>
                    <a:pt x="3755618" y="600938"/>
                  </a:lnTo>
                  <a:lnTo>
                    <a:pt x="3775837" y="639940"/>
                  </a:lnTo>
                  <a:lnTo>
                    <a:pt x="3799827" y="676465"/>
                  </a:lnTo>
                  <a:lnTo>
                    <a:pt x="3827335" y="710234"/>
                  </a:lnTo>
                  <a:lnTo>
                    <a:pt x="3858107" y="741019"/>
                  </a:lnTo>
                  <a:lnTo>
                    <a:pt x="3891889" y="768527"/>
                  </a:lnTo>
                  <a:lnTo>
                    <a:pt x="3928402" y="792518"/>
                  </a:lnTo>
                  <a:lnTo>
                    <a:pt x="3967403" y="812723"/>
                  </a:lnTo>
                  <a:lnTo>
                    <a:pt x="4008628" y="828903"/>
                  </a:lnTo>
                  <a:lnTo>
                    <a:pt x="4051820" y="840778"/>
                  </a:lnTo>
                  <a:lnTo>
                    <a:pt x="4096715" y="848080"/>
                  </a:lnTo>
                  <a:lnTo>
                    <a:pt x="4143057" y="850582"/>
                  </a:lnTo>
                  <a:lnTo>
                    <a:pt x="4189399" y="848080"/>
                  </a:lnTo>
                  <a:lnTo>
                    <a:pt x="4234294" y="840778"/>
                  </a:lnTo>
                  <a:lnTo>
                    <a:pt x="4277487" y="828903"/>
                  </a:lnTo>
                  <a:lnTo>
                    <a:pt x="4318711" y="812723"/>
                  </a:lnTo>
                  <a:lnTo>
                    <a:pt x="4357713" y="792518"/>
                  </a:lnTo>
                  <a:lnTo>
                    <a:pt x="4394238" y="768527"/>
                  </a:lnTo>
                  <a:lnTo>
                    <a:pt x="4428007" y="741019"/>
                  </a:lnTo>
                  <a:lnTo>
                    <a:pt x="4458779" y="710234"/>
                  </a:lnTo>
                  <a:lnTo>
                    <a:pt x="4486300" y="676465"/>
                  </a:lnTo>
                  <a:lnTo>
                    <a:pt x="4510290" y="639940"/>
                  </a:lnTo>
                  <a:lnTo>
                    <a:pt x="4530496" y="600938"/>
                  </a:lnTo>
                  <a:lnTo>
                    <a:pt x="4532668" y="595388"/>
                  </a:lnTo>
                  <a:lnTo>
                    <a:pt x="7490053" y="595388"/>
                  </a:lnTo>
                  <a:lnTo>
                    <a:pt x="7533043" y="586714"/>
                  </a:lnTo>
                  <a:lnTo>
                    <a:pt x="7568133" y="563054"/>
                  </a:lnTo>
                  <a:lnTo>
                    <a:pt x="7591793" y="527964"/>
                  </a:lnTo>
                  <a:lnTo>
                    <a:pt x="7600289" y="485838"/>
                  </a:lnTo>
                  <a:lnTo>
                    <a:pt x="7600289" y="484124"/>
                  </a:lnTo>
                  <a:close/>
                </a:path>
              </a:pathLst>
            </a:custGeom>
            <a:solidFill>
              <a:srgbClr val="4289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116820" y="2739691"/>
              <a:ext cx="345440" cy="381000"/>
            </a:xfrm>
            <a:custGeom>
              <a:avLst/>
              <a:gdLst/>
              <a:ahLst/>
              <a:cxnLst/>
              <a:rect l="l" t="t" r="r" b="b"/>
              <a:pathLst>
                <a:path w="345440" h="381000">
                  <a:moveTo>
                    <a:pt x="293560" y="135980"/>
                  </a:moveTo>
                  <a:lnTo>
                    <a:pt x="290006" y="136598"/>
                  </a:lnTo>
                  <a:lnTo>
                    <a:pt x="287110" y="136558"/>
                  </a:lnTo>
                  <a:lnTo>
                    <a:pt x="284371" y="136013"/>
                  </a:lnTo>
                  <a:lnTo>
                    <a:pt x="272409" y="118896"/>
                  </a:lnTo>
                  <a:lnTo>
                    <a:pt x="273150" y="115687"/>
                  </a:lnTo>
                  <a:lnTo>
                    <a:pt x="289131" y="104051"/>
                  </a:lnTo>
                  <a:lnTo>
                    <a:pt x="292603" y="104499"/>
                  </a:lnTo>
                  <a:lnTo>
                    <a:pt x="305426" y="120753"/>
                  </a:lnTo>
                  <a:lnTo>
                    <a:pt x="305115" y="123903"/>
                  </a:lnTo>
                  <a:lnTo>
                    <a:pt x="302895" y="133870"/>
                  </a:lnTo>
                </a:path>
                <a:path w="345440" h="381000">
                  <a:moveTo>
                    <a:pt x="336142" y="181163"/>
                  </a:moveTo>
                  <a:lnTo>
                    <a:pt x="316529" y="147716"/>
                  </a:lnTo>
                  <a:lnTo>
                    <a:pt x="302851" y="134069"/>
                  </a:lnTo>
                </a:path>
                <a:path w="345440" h="381000">
                  <a:moveTo>
                    <a:pt x="64285" y="155883"/>
                  </a:moveTo>
                  <a:lnTo>
                    <a:pt x="39335" y="188247"/>
                  </a:lnTo>
                  <a:lnTo>
                    <a:pt x="38837" y="192967"/>
                  </a:lnTo>
                </a:path>
                <a:path w="345440" h="381000">
                  <a:moveTo>
                    <a:pt x="212908" y="0"/>
                  </a:moveTo>
                  <a:lnTo>
                    <a:pt x="216266" y="2678"/>
                  </a:lnTo>
                  <a:lnTo>
                    <a:pt x="219353" y="5722"/>
                  </a:lnTo>
                  <a:lnTo>
                    <a:pt x="222440" y="8765"/>
                  </a:lnTo>
                  <a:lnTo>
                    <a:pt x="225196" y="12076"/>
                  </a:lnTo>
                  <a:lnTo>
                    <a:pt x="227621" y="15655"/>
                  </a:lnTo>
                  <a:lnTo>
                    <a:pt x="230046" y="19233"/>
                  </a:lnTo>
                  <a:lnTo>
                    <a:pt x="232094" y="23011"/>
                  </a:lnTo>
                  <a:lnTo>
                    <a:pt x="233765" y="26987"/>
                  </a:lnTo>
                  <a:lnTo>
                    <a:pt x="235435" y="30963"/>
                  </a:lnTo>
                  <a:lnTo>
                    <a:pt x="238826" y="52071"/>
                  </a:lnTo>
                  <a:lnTo>
                    <a:pt x="238826" y="56375"/>
                  </a:lnTo>
                  <a:lnTo>
                    <a:pt x="238400" y="60638"/>
                  </a:lnTo>
                  <a:lnTo>
                    <a:pt x="237548" y="64859"/>
                  </a:lnTo>
                  <a:lnTo>
                    <a:pt x="236696" y="69080"/>
                  </a:lnTo>
                  <a:lnTo>
                    <a:pt x="227621" y="88488"/>
                  </a:lnTo>
                  <a:lnTo>
                    <a:pt x="225196" y="92067"/>
                  </a:lnTo>
                  <a:lnTo>
                    <a:pt x="193751" y="114277"/>
                  </a:lnTo>
                  <a:lnTo>
                    <a:pt x="172342" y="117620"/>
                  </a:lnTo>
                  <a:lnTo>
                    <a:pt x="167977" y="117620"/>
                  </a:lnTo>
                  <a:lnTo>
                    <a:pt x="146900" y="112630"/>
                  </a:lnTo>
                  <a:lnTo>
                    <a:pt x="142867" y="110983"/>
                  </a:lnTo>
                  <a:lnTo>
                    <a:pt x="139036" y="108964"/>
                  </a:lnTo>
                  <a:lnTo>
                    <a:pt x="135406" y="106573"/>
                  </a:lnTo>
                  <a:lnTo>
                    <a:pt x="131777" y="104182"/>
                  </a:lnTo>
                  <a:lnTo>
                    <a:pt x="128418" y="101464"/>
                  </a:lnTo>
                  <a:lnTo>
                    <a:pt x="125332" y="98421"/>
                  </a:lnTo>
                  <a:lnTo>
                    <a:pt x="122245" y="95378"/>
                  </a:lnTo>
                  <a:lnTo>
                    <a:pt x="110920" y="77155"/>
                  </a:lnTo>
                  <a:lnTo>
                    <a:pt x="109249" y="73179"/>
                  </a:lnTo>
                  <a:lnTo>
                    <a:pt x="107988" y="69080"/>
                  </a:lnTo>
                  <a:lnTo>
                    <a:pt x="107136" y="64859"/>
                  </a:lnTo>
                  <a:lnTo>
                    <a:pt x="106285" y="60638"/>
                  </a:lnTo>
                  <a:lnTo>
                    <a:pt x="105859" y="56375"/>
                  </a:lnTo>
                  <a:lnTo>
                    <a:pt x="105859" y="52071"/>
                  </a:lnTo>
                  <a:lnTo>
                    <a:pt x="105859" y="47767"/>
                  </a:lnTo>
                  <a:lnTo>
                    <a:pt x="106285" y="43505"/>
                  </a:lnTo>
                  <a:lnTo>
                    <a:pt x="107136" y="39283"/>
                  </a:lnTo>
                  <a:lnTo>
                    <a:pt x="107988" y="35062"/>
                  </a:lnTo>
                  <a:lnTo>
                    <a:pt x="109249" y="30963"/>
                  </a:lnTo>
                  <a:lnTo>
                    <a:pt x="110920" y="26987"/>
                  </a:lnTo>
                  <a:lnTo>
                    <a:pt x="112590" y="23011"/>
                  </a:lnTo>
                  <a:lnTo>
                    <a:pt x="125332" y="5722"/>
                  </a:lnTo>
                  <a:lnTo>
                    <a:pt x="128418" y="2678"/>
                  </a:lnTo>
                  <a:lnTo>
                    <a:pt x="131777" y="0"/>
                  </a:lnTo>
                </a:path>
                <a:path w="345440" h="381000">
                  <a:moveTo>
                    <a:pt x="344873" y="240472"/>
                  </a:moveTo>
                  <a:lnTo>
                    <a:pt x="0" y="240233"/>
                  </a:lnTo>
                </a:path>
                <a:path w="345440" h="381000">
                  <a:moveTo>
                    <a:pt x="344873" y="240472"/>
                  </a:moveTo>
                  <a:lnTo>
                    <a:pt x="337044" y="297181"/>
                  </a:lnTo>
                  <a:lnTo>
                    <a:pt x="8171" y="297275"/>
                  </a:lnTo>
                  <a:lnTo>
                    <a:pt x="0" y="240233"/>
                  </a:lnTo>
                </a:path>
                <a:path w="345440" h="381000">
                  <a:moveTo>
                    <a:pt x="188168" y="200499"/>
                  </a:moveTo>
                  <a:lnTo>
                    <a:pt x="179370" y="166486"/>
                  </a:lnTo>
                </a:path>
                <a:path w="345440" h="381000">
                  <a:moveTo>
                    <a:pt x="192895" y="194255"/>
                  </a:moveTo>
                  <a:lnTo>
                    <a:pt x="172067" y="235287"/>
                  </a:lnTo>
                  <a:lnTo>
                    <a:pt x="151287" y="193234"/>
                  </a:lnTo>
                </a:path>
                <a:path w="345440" h="381000">
                  <a:moveTo>
                    <a:pt x="165814" y="167625"/>
                  </a:moveTo>
                  <a:lnTo>
                    <a:pt x="156062" y="202282"/>
                  </a:lnTo>
                </a:path>
                <a:path w="345440" h="381000">
                  <a:moveTo>
                    <a:pt x="185090" y="145625"/>
                  </a:moveTo>
                  <a:lnTo>
                    <a:pt x="159120" y="145610"/>
                  </a:lnTo>
                </a:path>
                <a:path w="345440" h="381000">
                  <a:moveTo>
                    <a:pt x="185090" y="145625"/>
                  </a:moveTo>
                  <a:lnTo>
                    <a:pt x="179370" y="166486"/>
                  </a:lnTo>
                </a:path>
                <a:path w="345440" h="381000">
                  <a:moveTo>
                    <a:pt x="165814" y="167625"/>
                  </a:moveTo>
                  <a:lnTo>
                    <a:pt x="159120" y="145610"/>
                  </a:lnTo>
                </a:path>
                <a:path w="345440" h="381000">
                  <a:moveTo>
                    <a:pt x="306140" y="240233"/>
                  </a:moveTo>
                  <a:lnTo>
                    <a:pt x="306134" y="193769"/>
                  </a:lnTo>
                </a:path>
                <a:path w="345440" h="381000">
                  <a:moveTo>
                    <a:pt x="219038" y="130479"/>
                  </a:moveTo>
                  <a:lnTo>
                    <a:pt x="190265" y="201154"/>
                  </a:lnTo>
                </a:path>
                <a:path w="345440" h="381000">
                  <a:moveTo>
                    <a:pt x="125692" y="130576"/>
                  </a:moveTo>
                  <a:lnTo>
                    <a:pt x="64285" y="155883"/>
                  </a:lnTo>
                </a:path>
                <a:path w="345440" h="381000">
                  <a:moveTo>
                    <a:pt x="154564" y="201633"/>
                  </a:moveTo>
                  <a:lnTo>
                    <a:pt x="125692" y="130576"/>
                  </a:lnTo>
                </a:path>
                <a:path w="345440" h="381000">
                  <a:moveTo>
                    <a:pt x="336201" y="240262"/>
                  </a:moveTo>
                  <a:lnTo>
                    <a:pt x="336142" y="181163"/>
                  </a:lnTo>
                </a:path>
                <a:path w="345440" h="381000">
                  <a:moveTo>
                    <a:pt x="37067" y="381000"/>
                  </a:moveTo>
                  <a:lnTo>
                    <a:pt x="37006" y="297334"/>
                  </a:lnTo>
                </a:path>
                <a:path w="345440" h="381000">
                  <a:moveTo>
                    <a:pt x="308018" y="297329"/>
                  </a:moveTo>
                  <a:lnTo>
                    <a:pt x="308050" y="381000"/>
                  </a:lnTo>
                </a:path>
                <a:path w="345440" h="381000">
                  <a:moveTo>
                    <a:pt x="38837" y="192967"/>
                  </a:moveTo>
                  <a:lnTo>
                    <a:pt x="38829" y="240215"/>
                  </a:lnTo>
                </a:path>
                <a:path w="345440" h="381000">
                  <a:moveTo>
                    <a:pt x="293560" y="135980"/>
                  </a:moveTo>
                  <a:lnTo>
                    <a:pt x="302696" y="133915"/>
                  </a:lnTo>
                </a:path>
                <a:path w="345440" h="381000">
                  <a:moveTo>
                    <a:pt x="306289" y="193767"/>
                  </a:moveTo>
                  <a:lnTo>
                    <a:pt x="295929" y="166622"/>
                  </a:lnTo>
                  <a:lnTo>
                    <a:pt x="292647" y="162834"/>
                  </a:lnTo>
                  <a:lnTo>
                    <a:pt x="288810" y="159708"/>
                  </a:lnTo>
                  <a:lnTo>
                    <a:pt x="284417" y="157244"/>
                  </a:lnTo>
                  <a:lnTo>
                    <a:pt x="280025" y="154781"/>
                  </a:lnTo>
                  <a:lnTo>
                    <a:pt x="275339" y="153127"/>
                  </a:lnTo>
                  <a:lnTo>
                    <a:pt x="270358" y="152283"/>
                  </a:lnTo>
                </a:path>
                <a:path w="345440" h="381000">
                  <a:moveTo>
                    <a:pt x="270487" y="151543"/>
                  </a:moveTo>
                  <a:lnTo>
                    <a:pt x="219038" y="130479"/>
                  </a:lnTo>
                </a:path>
              </a:pathLst>
            </a:custGeom>
            <a:ln w="1793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2373436" rIns="0" bIns="0" rtlCol="0" vert="horz">
            <a:spAutoFit/>
          </a:bodyPr>
          <a:lstStyle/>
          <a:p>
            <a:pPr marL="652780">
              <a:lnSpc>
                <a:spcPct val="100000"/>
              </a:lnSpc>
              <a:spcBef>
                <a:spcPts val="100"/>
              </a:spcBef>
            </a:pPr>
            <a:r>
              <a:rPr dirty="0" sz="2750" spc="114" b="1">
                <a:latin typeface="Cambria"/>
                <a:cs typeface="Cambria"/>
              </a:rPr>
              <a:t>Accessibility</a:t>
            </a:r>
            <a:r>
              <a:rPr dirty="0" sz="2750" b="1">
                <a:latin typeface="Cambria"/>
                <a:cs typeface="Cambria"/>
              </a:rPr>
              <a:t> </a:t>
            </a:r>
            <a:r>
              <a:rPr dirty="0" sz="2750" spc="185" b="1">
                <a:latin typeface="Cambria"/>
                <a:cs typeface="Cambria"/>
              </a:rPr>
              <a:t>of</a:t>
            </a:r>
            <a:r>
              <a:rPr dirty="0" sz="2750" spc="5" b="1">
                <a:latin typeface="Cambria"/>
                <a:cs typeface="Cambria"/>
              </a:rPr>
              <a:t> </a:t>
            </a:r>
            <a:r>
              <a:rPr dirty="0" sz="2750" spc="130" b="1">
                <a:latin typeface="Cambria"/>
                <a:cs typeface="Cambria"/>
              </a:rPr>
              <a:t>Deepfake</a:t>
            </a:r>
            <a:r>
              <a:rPr dirty="0" sz="2750" b="1">
                <a:latin typeface="Cambria"/>
                <a:cs typeface="Cambria"/>
              </a:rPr>
              <a:t> </a:t>
            </a:r>
            <a:r>
              <a:rPr dirty="0" sz="2750" spc="100" b="1">
                <a:latin typeface="Cambria"/>
                <a:cs typeface="Cambria"/>
              </a:rPr>
              <a:t>Tools</a:t>
            </a:r>
            <a:endParaRPr sz="2750">
              <a:latin typeface="Cambria"/>
              <a:cs typeface="Cambria"/>
            </a:endParaRPr>
          </a:p>
          <a:p>
            <a:pPr marL="314960" marR="5080">
              <a:lnSpc>
                <a:spcPct val="136600"/>
              </a:lnSpc>
              <a:spcBef>
                <a:spcPts val="2205"/>
              </a:spcBef>
            </a:pPr>
            <a:r>
              <a:rPr dirty="0" sz="2150"/>
              <a:t>The</a:t>
            </a:r>
            <a:r>
              <a:rPr dirty="0" sz="2150" spc="50"/>
              <a:t> </a:t>
            </a:r>
            <a:r>
              <a:rPr dirty="0" sz="2150"/>
              <a:t>accessibility</a:t>
            </a:r>
            <a:r>
              <a:rPr dirty="0" sz="2150" spc="65"/>
              <a:t> </a:t>
            </a:r>
            <a:r>
              <a:rPr dirty="0" sz="2150"/>
              <a:t>of</a:t>
            </a:r>
            <a:r>
              <a:rPr dirty="0" sz="2150" spc="60"/>
              <a:t> </a:t>
            </a:r>
            <a:r>
              <a:rPr dirty="0" sz="2150"/>
              <a:t>deepfake</a:t>
            </a:r>
            <a:r>
              <a:rPr dirty="0" sz="2150" spc="65"/>
              <a:t> </a:t>
            </a:r>
            <a:r>
              <a:rPr dirty="0" sz="2150"/>
              <a:t>tools</a:t>
            </a:r>
            <a:r>
              <a:rPr dirty="0" sz="2150" spc="60"/>
              <a:t> </a:t>
            </a:r>
            <a:r>
              <a:rPr dirty="0" sz="2150"/>
              <a:t>has</a:t>
            </a:r>
            <a:r>
              <a:rPr dirty="0" sz="2150" spc="65"/>
              <a:t> </a:t>
            </a:r>
            <a:r>
              <a:rPr dirty="0" sz="2150"/>
              <a:t>made</a:t>
            </a:r>
            <a:r>
              <a:rPr dirty="0" sz="2150" spc="60"/>
              <a:t> </a:t>
            </a:r>
            <a:r>
              <a:rPr dirty="0" sz="2150" spc="-10"/>
              <a:t>creating </a:t>
            </a:r>
            <a:r>
              <a:rPr dirty="0" sz="2150"/>
              <a:t>realistic</a:t>
            </a:r>
            <a:r>
              <a:rPr dirty="0" sz="2150" spc="70"/>
              <a:t> </a:t>
            </a:r>
            <a:r>
              <a:rPr dirty="0" sz="2150"/>
              <a:t>synthetic</a:t>
            </a:r>
            <a:r>
              <a:rPr dirty="0" sz="2150" spc="70"/>
              <a:t> </a:t>
            </a:r>
            <a:r>
              <a:rPr dirty="0" sz="2150"/>
              <a:t>media</a:t>
            </a:r>
            <a:r>
              <a:rPr dirty="0" sz="2150" spc="70"/>
              <a:t> </a:t>
            </a:r>
            <a:r>
              <a:rPr dirty="0" sz="2150"/>
              <a:t>easier</a:t>
            </a:r>
            <a:r>
              <a:rPr dirty="0" sz="2150" spc="70"/>
              <a:t> </a:t>
            </a:r>
            <a:r>
              <a:rPr dirty="0" sz="2150"/>
              <a:t>than</a:t>
            </a:r>
            <a:r>
              <a:rPr dirty="0" sz="2150" spc="70"/>
              <a:t> </a:t>
            </a:r>
            <a:r>
              <a:rPr dirty="0" sz="2150"/>
              <a:t>ever.</a:t>
            </a:r>
            <a:r>
              <a:rPr dirty="0" sz="2150" spc="70"/>
              <a:t> </a:t>
            </a:r>
            <a:r>
              <a:rPr dirty="0" sz="2150"/>
              <a:t>Open-</a:t>
            </a:r>
            <a:r>
              <a:rPr dirty="0" sz="2150" spc="-10"/>
              <a:t>source </a:t>
            </a:r>
            <a:r>
              <a:rPr dirty="0" sz="2150"/>
              <a:t>software</a:t>
            </a:r>
            <a:r>
              <a:rPr dirty="0" sz="2150" spc="65"/>
              <a:t> </a:t>
            </a:r>
            <a:r>
              <a:rPr dirty="0" sz="2150"/>
              <a:t>like</a:t>
            </a:r>
            <a:r>
              <a:rPr dirty="0" sz="2150" spc="80"/>
              <a:t> </a:t>
            </a:r>
            <a:r>
              <a:rPr dirty="0" sz="2150"/>
              <a:t>DeepFaceLab</a:t>
            </a:r>
            <a:r>
              <a:rPr dirty="0" sz="2150" spc="75"/>
              <a:t> </a:t>
            </a:r>
            <a:r>
              <a:rPr dirty="0" sz="2150"/>
              <a:t>and</a:t>
            </a:r>
            <a:r>
              <a:rPr dirty="0" sz="2150" spc="80"/>
              <a:t> </a:t>
            </a:r>
            <a:r>
              <a:rPr dirty="0" sz="2150"/>
              <a:t>FaceSwap,</a:t>
            </a:r>
            <a:r>
              <a:rPr dirty="0" sz="2150" spc="75"/>
              <a:t> </a:t>
            </a:r>
            <a:r>
              <a:rPr dirty="0" sz="2150"/>
              <a:t>along</a:t>
            </a:r>
            <a:r>
              <a:rPr dirty="0" sz="2150" spc="80"/>
              <a:t> </a:t>
            </a:r>
            <a:r>
              <a:rPr dirty="0" sz="2150" spc="-20"/>
              <a:t>with </a:t>
            </a:r>
            <a:r>
              <a:rPr dirty="0" sz="2150"/>
              <a:t>browser-based</a:t>
            </a:r>
            <a:r>
              <a:rPr dirty="0" sz="2150" spc="80"/>
              <a:t> </a:t>
            </a:r>
            <a:r>
              <a:rPr dirty="0" sz="2150"/>
              <a:t>apps,</a:t>
            </a:r>
            <a:r>
              <a:rPr dirty="0" sz="2150" spc="75"/>
              <a:t> </a:t>
            </a:r>
            <a:r>
              <a:rPr dirty="0" sz="2150"/>
              <a:t>allow</a:t>
            </a:r>
            <a:r>
              <a:rPr dirty="0" sz="2150" spc="80"/>
              <a:t> </a:t>
            </a:r>
            <a:r>
              <a:rPr dirty="0" sz="2150"/>
              <a:t>users</a:t>
            </a:r>
            <a:r>
              <a:rPr dirty="0" sz="2150" spc="75"/>
              <a:t> </a:t>
            </a:r>
            <a:r>
              <a:rPr dirty="0" sz="2150"/>
              <a:t>to</a:t>
            </a:r>
            <a:r>
              <a:rPr dirty="0" sz="2150" spc="80"/>
              <a:t> </a:t>
            </a:r>
            <a:r>
              <a:rPr dirty="0" sz="2150"/>
              <a:t>generate</a:t>
            </a:r>
            <a:r>
              <a:rPr dirty="0" sz="2150" spc="75"/>
              <a:t> </a:t>
            </a:r>
            <a:r>
              <a:rPr dirty="0" sz="2150" spc="-10"/>
              <a:t>deepfakes </a:t>
            </a:r>
            <a:r>
              <a:rPr dirty="0" sz="2150"/>
              <a:t>with</a:t>
            </a:r>
            <a:r>
              <a:rPr dirty="0" sz="2150" spc="70"/>
              <a:t> </a:t>
            </a:r>
            <a:r>
              <a:rPr dirty="0" sz="2150"/>
              <a:t>minimal</a:t>
            </a:r>
            <a:r>
              <a:rPr dirty="0" sz="2150" spc="70"/>
              <a:t> </a:t>
            </a:r>
            <a:r>
              <a:rPr dirty="0" sz="2150"/>
              <a:t>technical</a:t>
            </a:r>
            <a:r>
              <a:rPr dirty="0" sz="2150" spc="70"/>
              <a:t> </a:t>
            </a:r>
            <a:r>
              <a:rPr dirty="0" sz="2150"/>
              <a:t>knowledge.</a:t>
            </a:r>
            <a:r>
              <a:rPr dirty="0" sz="2150" spc="70"/>
              <a:t> </a:t>
            </a:r>
            <a:r>
              <a:rPr dirty="0" sz="2150"/>
              <a:t>Pre-trained</a:t>
            </a:r>
            <a:r>
              <a:rPr dirty="0" sz="2150" spc="70"/>
              <a:t> </a:t>
            </a:r>
            <a:r>
              <a:rPr dirty="0" sz="2150" spc="-10"/>
              <a:t>models </a:t>
            </a:r>
            <a:r>
              <a:rPr dirty="0" sz="2150"/>
              <a:t>further</a:t>
            </a:r>
            <a:r>
              <a:rPr dirty="0" sz="2150" spc="70"/>
              <a:t> </a:t>
            </a:r>
            <a:r>
              <a:rPr dirty="0" sz="2150"/>
              <a:t>reduce</a:t>
            </a:r>
            <a:r>
              <a:rPr dirty="0" sz="2150" spc="70"/>
              <a:t> </a:t>
            </a:r>
            <a:r>
              <a:rPr dirty="0" sz="2150"/>
              <a:t>the</a:t>
            </a:r>
            <a:r>
              <a:rPr dirty="0" sz="2150" spc="75"/>
              <a:t> </a:t>
            </a:r>
            <a:r>
              <a:rPr dirty="0" sz="2150"/>
              <a:t>skills</a:t>
            </a:r>
            <a:r>
              <a:rPr dirty="0" sz="2150" spc="70"/>
              <a:t> </a:t>
            </a:r>
            <a:r>
              <a:rPr dirty="0" sz="2150"/>
              <a:t>required,</a:t>
            </a:r>
            <a:r>
              <a:rPr dirty="0" sz="2150" spc="70"/>
              <a:t> </a:t>
            </a:r>
            <a:r>
              <a:rPr dirty="0" sz="2150"/>
              <a:t>and</a:t>
            </a:r>
            <a:r>
              <a:rPr dirty="0" sz="2150" spc="70"/>
              <a:t> </a:t>
            </a:r>
            <a:r>
              <a:rPr dirty="0" sz="2150"/>
              <a:t>research</a:t>
            </a:r>
            <a:r>
              <a:rPr dirty="0" sz="2150" spc="70"/>
              <a:t> </a:t>
            </a:r>
            <a:r>
              <a:rPr dirty="0" sz="2150"/>
              <a:t>shows</a:t>
            </a:r>
            <a:r>
              <a:rPr dirty="0" sz="2150" spc="70"/>
              <a:t> </a:t>
            </a:r>
            <a:r>
              <a:rPr dirty="0" sz="2150" spc="-20"/>
              <a:t>that </a:t>
            </a:r>
            <a:r>
              <a:rPr dirty="0" sz="2150"/>
              <a:t>even</a:t>
            </a:r>
            <a:r>
              <a:rPr dirty="0" sz="2150" spc="75"/>
              <a:t> </a:t>
            </a:r>
            <a:r>
              <a:rPr dirty="0" sz="2150"/>
              <a:t>novices</a:t>
            </a:r>
            <a:r>
              <a:rPr dirty="0" sz="2150" spc="75"/>
              <a:t> </a:t>
            </a:r>
            <a:r>
              <a:rPr dirty="0" sz="2150"/>
              <a:t>can</a:t>
            </a:r>
            <a:r>
              <a:rPr dirty="0" sz="2150" spc="75"/>
              <a:t> </a:t>
            </a:r>
            <a:r>
              <a:rPr dirty="0" sz="2150"/>
              <a:t>produce</a:t>
            </a:r>
            <a:r>
              <a:rPr dirty="0" sz="2150" spc="75"/>
              <a:t> </a:t>
            </a:r>
            <a:r>
              <a:rPr dirty="0" sz="2150"/>
              <a:t>convincing</a:t>
            </a:r>
            <a:r>
              <a:rPr dirty="0" sz="2150" spc="75"/>
              <a:t> </a:t>
            </a:r>
            <a:r>
              <a:rPr dirty="0" sz="2150"/>
              <a:t>deepfakes</a:t>
            </a:r>
            <a:r>
              <a:rPr dirty="0" sz="2150" spc="75"/>
              <a:t> </a:t>
            </a:r>
            <a:r>
              <a:rPr dirty="0" sz="2150" spc="-10"/>
              <a:t>quickly.</a:t>
            </a:r>
            <a:endParaRPr sz="2150"/>
          </a:p>
          <a:p>
            <a:pPr marL="314960" marR="128270">
              <a:lnSpc>
                <a:spcPct val="136600"/>
              </a:lnSpc>
            </a:pPr>
            <a:r>
              <a:rPr dirty="0" sz="2150"/>
              <a:t>These</a:t>
            </a:r>
            <a:r>
              <a:rPr dirty="0" sz="2150" spc="50"/>
              <a:t> </a:t>
            </a:r>
            <a:r>
              <a:rPr dirty="0" sz="2150"/>
              <a:t>low</a:t>
            </a:r>
            <a:r>
              <a:rPr dirty="0" sz="2150" spc="60"/>
              <a:t> </a:t>
            </a:r>
            <a:r>
              <a:rPr dirty="0" sz="2150"/>
              <a:t>barriers</a:t>
            </a:r>
            <a:r>
              <a:rPr dirty="0" sz="2150" spc="60"/>
              <a:t> </a:t>
            </a:r>
            <a:r>
              <a:rPr dirty="0" sz="2150"/>
              <a:t>to</a:t>
            </a:r>
            <a:r>
              <a:rPr dirty="0" sz="2150" spc="60"/>
              <a:t> </a:t>
            </a:r>
            <a:r>
              <a:rPr dirty="0" sz="2150"/>
              <a:t>entry</a:t>
            </a:r>
            <a:r>
              <a:rPr dirty="0" sz="2150" spc="60"/>
              <a:t> </a:t>
            </a:r>
            <a:r>
              <a:rPr dirty="0" sz="2150"/>
              <a:t>have</a:t>
            </a:r>
            <a:r>
              <a:rPr dirty="0" sz="2150" spc="65"/>
              <a:t> </a:t>
            </a:r>
            <a:r>
              <a:rPr dirty="0" sz="2150"/>
              <a:t>led</a:t>
            </a:r>
            <a:r>
              <a:rPr dirty="0" sz="2150" spc="60"/>
              <a:t> </a:t>
            </a:r>
            <a:r>
              <a:rPr dirty="0" sz="2150"/>
              <a:t>to</a:t>
            </a:r>
            <a:r>
              <a:rPr dirty="0" sz="2150" spc="60"/>
              <a:t> </a:t>
            </a:r>
            <a:r>
              <a:rPr dirty="0" sz="2150"/>
              <a:t>rapid</a:t>
            </a:r>
            <a:r>
              <a:rPr dirty="0" sz="2150" spc="60"/>
              <a:t> </a:t>
            </a:r>
            <a:r>
              <a:rPr dirty="0" sz="2150" spc="-10"/>
              <a:t>proliferation, </a:t>
            </a:r>
            <a:r>
              <a:rPr dirty="0" sz="2150"/>
              <a:t>increasing</a:t>
            </a:r>
            <a:r>
              <a:rPr dirty="0" sz="2150" spc="60"/>
              <a:t> </a:t>
            </a:r>
            <a:r>
              <a:rPr dirty="0" sz="2150"/>
              <a:t>the</a:t>
            </a:r>
            <a:r>
              <a:rPr dirty="0" sz="2150" spc="65"/>
              <a:t> </a:t>
            </a:r>
            <a:r>
              <a:rPr dirty="0" sz="2150"/>
              <a:t>potential</a:t>
            </a:r>
            <a:r>
              <a:rPr dirty="0" sz="2150" spc="60"/>
              <a:t> </a:t>
            </a:r>
            <a:r>
              <a:rPr dirty="0" sz="2150"/>
              <a:t>for</a:t>
            </a:r>
            <a:r>
              <a:rPr dirty="0" sz="2150" spc="60"/>
              <a:t> </a:t>
            </a:r>
            <a:r>
              <a:rPr dirty="0" sz="2150"/>
              <a:t>misuse</a:t>
            </a:r>
            <a:r>
              <a:rPr dirty="0" sz="2150" spc="65"/>
              <a:t> </a:t>
            </a:r>
            <a:r>
              <a:rPr dirty="0" sz="2150"/>
              <a:t>and</a:t>
            </a:r>
            <a:r>
              <a:rPr dirty="0" sz="2150" spc="60"/>
              <a:t> </a:t>
            </a:r>
            <a:r>
              <a:rPr dirty="0" sz="2150"/>
              <a:t>raising</a:t>
            </a:r>
            <a:r>
              <a:rPr dirty="0" sz="2150" spc="60"/>
              <a:t> </a:t>
            </a:r>
            <a:r>
              <a:rPr dirty="0" sz="2150" spc="-10"/>
              <a:t>concerns </a:t>
            </a:r>
            <a:r>
              <a:rPr dirty="0" sz="2150"/>
              <a:t>about</a:t>
            </a:r>
            <a:r>
              <a:rPr dirty="0" sz="2150" spc="60"/>
              <a:t> </a:t>
            </a:r>
            <a:r>
              <a:rPr dirty="0" sz="2150"/>
              <a:t>privacy,</a:t>
            </a:r>
            <a:r>
              <a:rPr dirty="0" sz="2150" spc="65"/>
              <a:t> </a:t>
            </a:r>
            <a:r>
              <a:rPr dirty="0" sz="2150"/>
              <a:t>security,</a:t>
            </a:r>
            <a:r>
              <a:rPr dirty="0" sz="2150" spc="70"/>
              <a:t> </a:t>
            </a:r>
            <a:r>
              <a:rPr dirty="0" sz="2150"/>
              <a:t>and</a:t>
            </a:r>
            <a:r>
              <a:rPr dirty="0" sz="2150" spc="70"/>
              <a:t> </a:t>
            </a:r>
            <a:r>
              <a:rPr dirty="0" sz="2150" spc="-10"/>
              <a:t>misinformation.</a:t>
            </a:r>
            <a:endParaRPr sz="2150"/>
          </a:p>
        </p:txBody>
      </p:sp>
      <p:sp>
        <p:nvSpPr>
          <p:cNvPr id="13" name="object 13"/>
          <p:cNvSpPr/>
          <p:nvPr/>
        </p:nvSpPr>
        <p:spPr>
          <a:xfrm>
            <a:off x="8782402" y="2927970"/>
            <a:ext cx="172085" cy="7179309"/>
          </a:xfrm>
          <a:custGeom>
            <a:avLst/>
            <a:gdLst/>
            <a:ahLst/>
            <a:cxnLst/>
            <a:rect l="l" t="t" r="r" b="b"/>
            <a:pathLst>
              <a:path w="172084" h="7179309">
                <a:moveTo>
                  <a:pt x="87106" y="7179033"/>
                </a:moveTo>
                <a:lnTo>
                  <a:pt x="84830" y="7179033"/>
                </a:lnTo>
                <a:lnTo>
                  <a:pt x="58816" y="7169794"/>
                </a:lnTo>
                <a:lnTo>
                  <a:pt x="35219" y="7142953"/>
                </a:lnTo>
                <a:lnTo>
                  <a:pt x="16602" y="7102042"/>
                </a:lnTo>
                <a:lnTo>
                  <a:pt x="4387" y="7050188"/>
                </a:lnTo>
                <a:lnTo>
                  <a:pt x="0" y="6990521"/>
                </a:lnTo>
                <a:lnTo>
                  <a:pt x="0" y="188915"/>
                </a:lnTo>
                <a:lnTo>
                  <a:pt x="4387" y="129248"/>
                </a:lnTo>
                <a:lnTo>
                  <a:pt x="16602" y="77395"/>
                </a:lnTo>
                <a:lnTo>
                  <a:pt x="35219" y="36483"/>
                </a:lnTo>
                <a:lnTo>
                  <a:pt x="85968" y="0"/>
                </a:lnTo>
                <a:lnTo>
                  <a:pt x="113121" y="9642"/>
                </a:lnTo>
                <a:lnTo>
                  <a:pt x="136717" y="36483"/>
                </a:lnTo>
                <a:lnTo>
                  <a:pt x="155334" y="77395"/>
                </a:lnTo>
                <a:lnTo>
                  <a:pt x="167549" y="129248"/>
                </a:lnTo>
                <a:lnTo>
                  <a:pt x="171936" y="188915"/>
                </a:lnTo>
                <a:lnTo>
                  <a:pt x="171936" y="6990521"/>
                </a:lnTo>
                <a:lnTo>
                  <a:pt x="167549" y="7050188"/>
                </a:lnTo>
                <a:lnTo>
                  <a:pt x="155334" y="7102042"/>
                </a:lnTo>
                <a:lnTo>
                  <a:pt x="136717" y="7142953"/>
                </a:lnTo>
                <a:lnTo>
                  <a:pt x="87106" y="7179033"/>
                </a:lnTo>
                <a:close/>
              </a:path>
            </a:pathLst>
          </a:custGeom>
          <a:solidFill>
            <a:srgbClr val="4289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ED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21167" y="290607"/>
            <a:ext cx="11066780" cy="14065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119380">
              <a:lnSpc>
                <a:spcPts val="5550"/>
              </a:lnSpc>
            </a:pPr>
            <a:r>
              <a:rPr dirty="0" spc="210"/>
              <a:t>Political</a:t>
            </a:r>
            <a:r>
              <a:rPr dirty="0" spc="-10"/>
              <a:t> </a:t>
            </a:r>
            <a:r>
              <a:rPr dirty="0" spc="195"/>
              <a:t>&amp;</a:t>
            </a:r>
            <a:r>
              <a:rPr dirty="0" spc="-10"/>
              <a:t> </a:t>
            </a:r>
            <a:r>
              <a:rPr dirty="0" spc="260"/>
              <a:t>Democratic</a:t>
            </a:r>
            <a:r>
              <a:rPr dirty="0" spc="-10"/>
              <a:t> </a:t>
            </a:r>
            <a:r>
              <a:rPr dirty="0" spc="240"/>
              <a:t>Problems </a:t>
            </a:r>
            <a:r>
              <a:rPr dirty="0" spc="220"/>
              <a:t>Election</a:t>
            </a:r>
            <a:r>
              <a:rPr dirty="0" spc="-15"/>
              <a:t> </a:t>
            </a:r>
            <a:r>
              <a:rPr dirty="0" spc="225"/>
              <a:t>Manipulation</a:t>
            </a:r>
            <a:r>
              <a:rPr dirty="0" spc="-15"/>
              <a:t> </a:t>
            </a:r>
            <a:r>
              <a:rPr dirty="0" spc="195"/>
              <a:t>&amp;</a:t>
            </a:r>
            <a:r>
              <a:rPr dirty="0" spc="-10"/>
              <a:t> </a:t>
            </a:r>
            <a:r>
              <a:rPr dirty="0" spc="220"/>
              <a:t>Fake</a:t>
            </a:r>
            <a:r>
              <a:rPr dirty="0" spc="-15"/>
              <a:t> </a:t>
            </a:r>
            <a:r>
              <a:rPr dirty="0" spc="225"/>
              <a:t>Speeches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0395" y="1871077"/>
            <a:ext cx="6448425" cy="5093335"/>
          </a:xfrm>
          <a:prstGeom prst="rect">
            <a:avLst/>
          </a:prstGeom>
        </p:spPr>
        <p:txBody>
          <a:bodyPr wrap="square" lIns="0" tIns="378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dirty="0" sz="4350">
                <a:solidFill>
                  <a:srgbClr val="405349"/>
                </a:solidFill>
                <a:latin typeface="Microsoft Sans Serif"/>
                <a:cs typeface="Microsoft Sans Serif"/>
              </a:rPr>
              <a:t>1.</a:t>
            </a:r>
            <a:r>
              <a:rPr dirty="0" sz="4350" spc="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4350">
                <a:solidFill>
                  <a:srgbClr val="405349"/>
                </a:solidFill>
                <a:latin typeface="Microsoft Sans Serif"/>
                <a:cs typeface="Microsoft Sans Serif"/>
              </a:rPr>
              <a:t>Election</a:t>
            </a:r>
            <a:r>
              <a:rPr dirty="0" sz="4350" spc="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4350" spc="-10">
                <a:solidFill>
                  <a:srgbClr val="405349"/>
                </a:solidFill>
                <a:latin typeface="Microsoft Sans Serif"/>
                <a:cs typeface="Microsoft Sans Serif"/>
              </a:rPr>
              <a:t>Manipulation</a:t>
            </a:r>
            <a:endParaRPr sz="4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Vote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buying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bribery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voters</a:t>
            </a:r>
            <a:endParaRPr sz="2150">
              <a:latin typeface="Microsoft Sans Serif"/>
              <a:cs typeface="Microsoft Sans Serif"/>
            </a:endParaRPr>
          </a:p>
          <a:p>
            <a:pPr marL="12700" marR="5080">
              <a:lnSpc>
                <a:spcPct val="1347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1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during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campaigns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Spread</a:t>
            </a:r>
            <a:r>
              <a:rPr dirty="0" sz="21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misinformation</a:t>
            </a:r>
            <a:r>
              <a:rPr dirty="0" sz="21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influence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voter</a:t>
            </a:r>
            <a:r>
              <a:rPr dirty="0" sz="21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decisions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1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media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bots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targeted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political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ads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Allegations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EVM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tampering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some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regions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Impact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Democracy:</a:t>
            </a:r>
            <a:endParaRPr sz="2150">
              <a:latin typeface="Microsoft Sans Serif"/>
              <a:cs typeface="Microsoft Sans Serif"/>
            </a:endParaRPr>
          </a:p>
          <a:p>
            <a:pPr marL="12700" marR="2120265">
              <a:lnSpc>
                <a:spcPct val="1347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Reduces</a:t>
            </a:r>
            <a:r>
              <a:rPr dirty="0" sz="21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fairness</a:t>
            </a:r>
            <a:r>
              <a:rPr dirty="0" sz="2150" spc="-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-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transparency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Weakens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public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trust</a:t>
            </a:r>
            <a:r>
              <a:rPr dirty="0" sz="2150" spc="-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-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elections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Distorts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true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will</a:t>
            </a:r>
            <a:r>
              <a:rPr dirty="0" sz="2150" spc="-1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people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255904">
              <a:lnSpc>
                <a:spcPct val="136400"/>
              </a:lnSpc>
              <a:spcBef>
                <a:spcPts val="90"/>
              </a:spcBef>
            </a:pPr>
            <a:r>
              <a:rPr dirty="0"/>
              <a:t>2.</a:t>
            </a:r>
            <a:r>
              <a:rPr dirty="0" spc="35"/>
              <a:t> </a:t>
            </a:r>
            <a:r>
              <a:rPr dirty="0"/>
              <a:t>Fake</a:t>
            </a:r>
            <a:r>
              <a:rPr dirty="0" spc="45"/>
              <a:t> </a:t>
            </a:r>
            <a:r>
              <a:rPr dirty="0"/>
              <a:t>Speeches</a:t>
            </a:r>
            <a:r>
              <a:rPr dirty="0" spc="45"/>
              <a:t> </a:t>
            </a:r>
            <a:r>
              <a:rPr dirty="0"/>
              <a:t>&amp;</a:t>
            </a:r>
            <a:r>
              <a:rPr dirty="0" spc="50"/>
              <a:t> </a:t>
            </a:r>
            <a:r>
              <a:rPr dirty="0" spc="-10"/>
              <a:t>Political Misinformation</a:t>
            </a:r>
          </a:p>
          <a:p>
            <a:pPr marL="12700" marR="2872740">
              <a:lnSpc>
                <a:spcPct val="136400"/>
              </a:lnSpc>
              <a:spcBef>
                <a:spcPts val="535"/>
              </a:spcBef>
            </a:pPr>
            <a:r>
              <a:rPr dirty="0" sz="2200"/>
              <a:t>Deepfake</a:t>
            </a:r>
            <a:r>
              <a:rPr dirty="0" sz="2200" spc="-20"/>
              <a:t> </a:t>
            </a:r>
            <a:r>
              <a:rPr dirty="0" sz="2200"/>
              <a:t>videos</a:t>
            </a:r>
            <a:r>
              <a:rPr dirty="0" sz="2200" spc="-10"/>
              <a:t> </a:t>
            </a:r>
            <a:r>
              <a:rPr dirty="0" sz="2200"/>
              <a:t>of</a:t>
            </a:r>
            <a:r>
              <a:rPr dirty="0" sz="2200" spc="-10"/>
              <a:t> </a:t>
            </a:r>
            <a:r>
              <a:rPr dirty="0" sz="2200"/>
              <a:t>political</a:t>
            </a:r>
            <a:r>
              <a:rPr dirty="0" sz="2200" spc="-5"/>
              <a:t> </a:t>
            </a:r>
            <a:r>
              <a:rPr dirty="0" sz="2200" spc="-10"/>
              <a:t>leaders </a:t>
            </a:r>
            <a:r>
              <a:rPr dirty="0" sz="2200"/>
              <a:t>Edited</a:t>
            </a:r>
            <a:r>
              <a:rPr dirty="0" sz="2200" spc="15"/>
              <a:t> </a:t>
            </a:r>
            <a:r>
              <a:rPr dirty="0" sz="2200"/>
              <a:t>or</a:t>
            </a:r>
            <a:r>
              <a:rPr dirty="0" sz="2200" spc="20"/>
              <a:t> </a:t>
            </a:r>
            <a:r>
              <a:rPr dirty="0" sz="2200" spc="-10"/>
              <a:t>out-of-</a:t>
            </a:r>
            <a:r>
              <a:rPr dirty="0" sz="2200"/>
              <a:t>context</a:t>
            </a:r>
            <a:r>
              <a:rPr dirty="0" sz="2200" spc="20"/>
              <a:t> </a:t>
            </a:r>
            <a:r>
              <a:rPr dirty="0" sz="2200"/>
              <a:t>speech</a:t>
            </a:r>
            <a:r>
              <a:rPr dirty="0" sz="2200" spc="15"/>
              <a:t> </a:t>
            </a:r>
            <a:r>
              <a:rPr dirty="0" sz="2200" spc="-10"/>
              <a:t>clips </a:t>
            </a:r>
            <a:r>
              <a:rPr dirty="0" sz="2200"/>
              <a:t>False</a:t>
            </a:r>
            <a:r>
              <a:rPr dirty="0" sz="2200" spc="-10"/>
              <a:t> </a:t>
            </a:r>
            <a:r>
              <a:rPr dirty="0" sz="2200"/>
              <a:t>campaign</a:t>
            </a:r>
            <a:r>
              <a:rPr dirty="0" sz="2200" spc="-5"/>
              <a:t> </a:t>
            </a:r>
            <a:r>
              <a:rPr dirty="0" sz="2200" spc="-10"/>
              <a:t>promises</a:t>
            </a:r>
            <a:endParaRPr sz="2200"/>
          </a:p>
          <a:p>
            <a:pPr marL="12700" marR="1838325">
              <a:lnSpc>
                <a:spcPct val="136400"/>
              </a:lnSpc>
            </a:pPr>
            <a:r>
              <a:rPr dirty="0" sz="2200"/>
              <a:t>Viral</a:t>
            </a:r>
            <a:r>
              <a:rPr dirty="0" sz="2200" spc="10"/>
              <a:t> </a:t>
            </a:r>
            <a:r>
              <a:rPr dirty="0" sz="2200"/>
              <a:t>fake</a:t>
            </a:r>
            <a:r>
              <a:rPr dirty="0" sz="2200" spc="15"/>
              <a:t> </a:t>
            </a:r>
            <a:r>
              <a:rPr dirty="0" sz="2200"/>
              <a:t>news</a:t>
            </a:r>
            <a:r>
              <a:rPr dirty="0" sz="2200" spc="15"/>
              <a:t> </a:t>
            </a:r>
            <a:r>
              <a:rPr dirty="0" sz="2200"/>
              <a:t>on</a:t>
            </a:r>
            <a:r>
              <a:rPr dirty="0" sz="2200" spc="15"/>
              <a:t> </a:t>
            </a:r>
            <a:r>
              <a:rPr dirty="0" sz="2200"/>
              <a:t>WhatsApp</a:t>
            </a:r>
            <a:r>
              <a:rPr dirty="0" sz="2200" spc="15"/>
              <a:t> </a:t>
            </a:r>
            <a:r>
              <a:rPr dirty="0" sz="2200"/>
              <a:t>&amp;</a:t>
            </a:r>
            <a:r>
              <a:rPr dirty="0" sz="2200" spc="10"/>
              <a:t> </a:t>
            </a:r>
            <a:r>
              <a:rPr dirty="0" sz="2200"/>
              <a:t>social</a:t>
            </a:r>
            <a:r>
              <a:rPr dirty="0" sz="2200" spc="15"/>
              <a:t> </a:t>
            </a:r>
            <a:r>
              <a:rPr dirty="0" sz="2200" spc="-10"/>
              <a:t>media Consequences:</a:t>
            </a:r>
            <a:endParaRPr sz="2200"/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200"/>
              <a:t>Misleads</a:t>
            </a:r>
            <a:r>
              <a:rPr dirty="0" sz="2200" spc="-25"/>
              <a:t> </a:t>
            </a:r>
            <a:r>
              <a:rPr dirty="0" sz="2200" spc="-10"/>
              <a:t>voters</a:t>
            </a:r>
            <a:endParaRPr sz="2200"/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200"/>
              <a:t>Creates</a:t>
            </a:r>
            <a:r>
              <a:rPr dirty="0" sz="2200" spc="-25"/>
              <a:t> </a:t>
            </a:r>
            <a:r>
              <a:rPr dirty="0" sz="2200"/>
              <a:t>social</a:t>
            </a:r>
            <a:r>
              <a:rPr dirty="0" sz="2200" spc="-10"/>
              <a:t> </a:t>
            </a:r>
            <a:r>
              <a:rPr dirty="0" sz="2200"/>
              <a:t>and</a:t>
            </a:r>
            <a:r>
              <a:rPr dirty="0" sz="2200" spc="-10"/>
              <a:t> </a:t>
            </a:r>
            <a:r>
              <a:rPr dirty="0" sz="2200"/>
              <a:t>political</a:t>
            </a:r>
            <a:r>
              <a:rPr dirty="0" sz="2200" spc="-10"/>
              <a:t> division</a:t>
            </a:r>
            <a:endParaRPr sz="2200"/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200"/>
              <a:t>Influences</a:t>
            </a:r>
            <a:r>
              <a:rPr dirty="0" sz="2200" spc="-25"/>
              <a:t> </a:t>
            </a:r>
            <a:r>
              <a:rPr dirty="0" sz="2200"/>
              <a:t>voting</a:t>
            </a:r>
            <a:r>
              <a:rPr dirty="0" sz="2200" spc="-10"/>
              <a:t> </a:t>
            </a:r>
            <a:r>
              <a:rPr dirty="0" sz="2200"/>
              <a:t>behavior</a:t>
            </a:r>
            <a:r>
              <a:rPr dirty="0" sz="2200" spc="-15"/>
              <a:t> </a:t>
            </a:r>
            <a:r>
              <a:rPr dirty="0" sz="2200"/>
              <a:t>emotionally</a:t>
            </a:r>
            <a:r>
              <a:rPr dirty="0" sz="2200" spc="-10"/>
              <a:t> </a:t>
            </a:r>
            <a:r>
              <a:rPr dirty="0" sz="2200"/>
              <a:t>rather</a:t>
            </a:r>
            <a:r>
              <a:rPr dirty="0" sz="2200" spc="-15"/>
              <a:t> </a:t>
            </a:r>
            <a:r>
              <a:rPr dirty="0" sz="2200"/>
              <a:t>than</a:t>
            </a:r>
            <a:r>
              <a:rPr dirty="0" sz="2200" spc="-10"/>
              <a:t> rationally</a:t>
            </a:r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065225" y="3811634"/>
            <a:ext cx="259079" cy="234315"/>
          </a:xfrm>
          <a:custGeom>
            <a:avLst/>
            <a:gdLst/>
            <a:ahLst/>
            <a:cxnLst/>
            <a:rect l="l" t="t" r="r" b="b"/>
            <a:pathLst>
              <a:path w="259079" h="234314">
                <a:moveTo>
                  <a:pt x="0" y="0"/>
                </a:moveTo>
                <a:lnTo>
                  <a:pt x="70" y="233940"/>
                </a:lnTo>
                <a:lnTo>
                  <a:pt x="258545" y="233934"/>
                </a:lnTo>
              </a:path>
              <a:path w="259079" h="234314">
                <a:moveTo>
                  <a:pt x="211898" y="16447"/>
                </a:moveTo>
                <a:lnTo>
                  <a:pt x="257522" y="2834"/>
                </a:lnTo>
                <a:lnTo>
                  <a:pt x="160211" y="134016"/>
                </a:lnTo>
                <a:lnTo>
                  <a:pt x="115156" y="86732"/>
                </a:lnTo>
              </a:path>
              <a:path w="259079" h="234314">
                <a:moveTo>
                  <a:pt x="28704" y="193330"/>
                </a:moveTo>
                <a:lnTo>
                  <a:pt x="115156" y="86732"/>
                </a:lnTo>
              </a:path>
              <a:path w="259079" h="234314">
                <a:moveTo>
                  <a:pt x="258648" y="49036"/>
                </a:moveTo>
                <a:lnTo>
                  <a:pt x="258792" y="2455"/>
                </a:lnTo>
              </a:path>
            </a:pathLst>
          </a:custGeom>
          <a:ln w="1161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63240" y="4993348"/>
            <a:ext cx="259715" cy="64769"/>
          </a:xfrm>
          <a:custGeom>
            <a:avLst/>
            <a:gdLst/>
            <a:ahLst/>
            <a:cxnLst/>
            <a:rect l="l" t="t" r="r" b="b"/>
            <a:pathLst>
              <a:path w="259715" h="64770">
                <a:moveTo>
                  <a:pt x="216165" y="0"/>
                </a:moveTo>
                <a:lnTo>
                  <a:pt x="212814" y="41943"/>
                </a:lnTo>
                <a:lnTo>
                  <a:pt x="182664" y="64284"/>
                </a:lnTo>
                <a:lnTo>
                  <a:pt x="166842" y="64523"/>
                </a:lnTo>
              </a:path>
              <a:path w="259715" h="64770">
                <a:moveTo>
                  <a:pt x="259698" y="16948"/>
                </a:moveTo>
                <a:lnTo>
                  <a:pt x="216165" y="0"/>
                </a:lnTo>
              </a:path>
              <a:path w="259715" h="64770">
                <a:moveTo>
                  <a:pt x="166842" y="64523"/>
                </a:moveTo>
                <a:lnTo>
                  <a:pt x="0" y="64535"/>
                </a:lnTo>
              </a:path>
            </a:pathLst>
          </a:custGeom>
          <a:ln w="1550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65763" y="4833904"/>
            <a:ext cx="257175" cy="67310"/>
          </a:xfrm>
          <a:custGeom>
            <a:avLst/>
            <a:gdLst/>
            <a:ahLst/>
            <a:cxnLst/>
            <a:rect l="l" t="t" r="r" b="b"/>
            <a:pathLst>
              <a:path w="257175" h="67310">
                <a:moveTo>
                  <a:pt x="0" y="19"/>
                </a:moveTo>
                <a:lnTo>
                  <a:pt x="13413" y="0"/>
                </a:lnTo>
              </a:path>
              <a:path w="257175" h="67310">
                <a:moveTo>
                  <a:pt x="173401" y="27"/>
                </a:moveTo>
                <a:lnTo>
                  <a:pt x="208815" y="18986"/>
                </a:lnTo>
                <a:lnTo>
                  <a:pt x="213402" y="38867"/>
                </a:lnTo>
                <a:lnTo>
                  <a:pt x="213546" y="66941"/>
                </a:lnTo>
              </a:path>
              <a:path w="257175" h="67310">
                <a:moveTo>
                  <a:pt x="257174" y="49778"/>
                </a:moveTo>
                <a:lnTo>
                  <a:pt x="213546" y="66941"/>
                </a:lnTo>
              </a:path>
              <a:path w="257175" h="67310">
                <a:moveTo>
                  <a:pt x="13413" y="0"/>
                </a:moveTo>
                <a:lnTo>
                  <a:pt x="173401" y="27"/>
                </a:lnTo>
              </a:path>
            </a:pathLst>
          </a:custGeom>
          <a:ln w="1550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14093" y="5834586"/>
            <a:ext cx="158115" cy="253365"/>
          </a:xfrm>
          <a:custGeom>
            <a:avLst/>
            <a:gdLst/>
            <a:ahLst/>
            <a:cxnLst/>
            <a:rect l="l" t="t" r="r" b="b"/>
            <a:pathLst>
              <a:path w="158115" h="253364">
                <a:moveTo>
                  <a:pt x="27871" y="196408"/>
                </a:moveTo>
                <a:lnTo>
                  <a:pt x="41432" y="234659"/>
                </a:lnTo>
                <a:lnTo>
                  <a:pt x="80653" y="253272"/>
                </a:lnTo>
                <a:lnTo>
                  <a:pt x="86504" y="253207"/>
                </a:lnTo>
                <a:lnTo>
                  <a:pt x="120095" y="229815"/>
                </a:lnTo>
                <a:lnTo>
                  <a:pt x="132255" y="184295"/>
                </a:lnTo>
                <a:lnTo>
                  <a:pt x="135055" y="165482"/>
                </a:lnTo>
                <a:lnTo>
                  <a:pt x="158075" y="0"/>
                </a:lnTo>
              </a:path>
              <a:path w="158115" h="253364">
                <a:moveTo>
                  <a:pt x="0" y="0"/>
                </a:moveTo>
                <a:lnTo>
                  <a:pt x="27871" y="196408"/>
                </a:lnTo>
              </a:path>
            </a:pathLst>
          </a:custGeom>
          <a:ln w="3201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167" y="6859921"/>
            <a:ext cx="262367" cy="24102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1078657" y="7881880"/>
            <a:ext cx="231775" cy="257175"/>
          </a:xfrm>
          <a:custGeom>
            <a:avLst/>
            <a:gdLst/>
            <a:ahLst/>
            <a:cxnLst/>
            <a:rect l="l" t="t" r="r" b="b"/>
            <a:pathLst>
              <a:path w="231775" h="257175">
                <a:moveTo>
                  <a:pt x="99193" y="0"/>
                </a:moveTo>
                <a:lnTo>
                  <a:pt x="61776" y="18588"/>
                </a:lnTo>
                <a:lnTo>
                  <a:pt x="21071" y="28319"/>
                </a:lnTo>
                <a:lnTo>
                  <a:pt x="1714" y="30371"/>
                </a:lnTo>
              </a:path>
              <a:path w="231775" h="257175">
                <a:moveTo>
                  <a:pt x="230106" y="30662"/>
                </a:moveTo>
                <a:lnTo>
                  <a:pt x="224241" y="29884"/>
                </a:lnTo>
                <a:lnTo>
                  <a:pt x="215753" y="28816"/>
                </a:lnTo>
                <a:lnTo>
                  <a:pt x="205951" y="27506"/>
                </a:lnTo>
                <a:lnTo>
                  <a:pt x="168217" y="18219"/>
                </a:lnTo>
                <a:lnTo>
                  <a:pt x="135765" y="2328"/>
                </a:lnTo>
                <a:lnTo>
                  <a:pt x="132167" y="0"/>
                </a:lnTo>
              </a:path>
              <a:path w="231775" h="257175">
                <a:moveTo>
                  <a:pt x="134342" y="257174"/>
                </a:moveTo>
                <a:lnTo>
                  <a:pt x="164294" y="232770"/>
                </a:lnTo>
                <a:lnTo>
                  <a:pt x="190936" y="203421"/>
                </a:lnTo>
                <a:lnTo>
                  <a:pt x="211827" y="167602"/>
                </a:lnTo>
                <a:lnTo>
                  <a:pt x="225141" y="127138"/>
                </a:lnTo>
                <a:lnTo>
                  <a:pt x="231167" y="78471"/>
                </a:lnTo>
                <a:lnTo>
                  <a:pt x="231392" y="60079"/>
                </a:lnTo>
              </a:path>
              <a:path w="231775" h="257175">
                <a:moveTo>
                  <a:pt x="231289" y="39946"/>
                </a:moveTo>
                <a:lnTo>
                  <a:pt x="231131" y="36832"/>
                </a:lnTo>
                <a:lnTo>
                  <a:pt x="230737" y="33737"/>
                </a:lnTo>
                <a:lnTo>
                  <a:pt x="230106" y="30662"/>
                </a:lnTo>
              </a:path>
              <a:path w="231775" h="257175">
                <a:moveTo>
                  <a:pt x="414" y="34724"/>
                </a:moveTo>
                <a:lnTo>
                  <a:pt x="223" y="37636"/>
                </a:lnTo>
                <a:lnTo>
                  <a:pt x="84" y="42895"/>
                </a:lnTo>
                <a:lnTo>
                  <a:pt x="6" y="50894"/>
                </a:lnTo>
                <a:lnTo>
                  <a:pt x="0" y="62030"/>
                </a:lnTo>
                <a:lnTo>
                  <a:pt x="265" y="71477"/>
                </a:lnTo>
                <a:lnTo>
                  <a:pt x="5097" y="118360"/>
                </a:lnTo>
                <a:lnTo>
                  <a:pt x="16064" y="159016"/>
                </a:lnTo>
                <a:lnTo>
                  <a:pt x="34651" y="195099"/>
                </a:lnTo>
                <a:lnTo>
                  <a:pt x="62140" y="228575"/>
                </a:lnTo>
                <a:lnTo>
                  <a:pt x="94377" y="255661"/>
                </a:lnTo>
                <a:lnTo>
                  <a:pt x="96562" y="257174"/>
                </a:lnTo>
              </a:path>
              <a:path w="231775" h="257175">
                <a:moveTo>
                  <a:pt x="1714" y="30371"/>
                </a:moveTo>
                <a:lnTo>
                  <a:pt x="414" y="34724"/>
                </a:lnTo>
              </a:path>
              <a:path w="231775" h="257175">
                <a:moveTo>
                  <a:pt x="231392" y="60079"/>
                </a:moveTo>
                <a:lnTo>
                  <a:pt x="231289" y="39946"/>
                </a:lnTo>
              </a:path>
            </a:pathLst>
          </a:custGeom>
          <a:ln w="1240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567897" y="2280618"/>
            <a:ext cx="193675" cy="5726430"/>
          </a:xfrm>
          <a:custGeom>
            <a:avLst/>
            <a:gdLst/>
            <a:ahLst/>
            <a:cxnLst/>
            <a:rect l="l" t="t" r="r" b="b"/>
            <a:pathLst>
              <a:path w="193675" h="5726430">
                <a:moveTo>
                  <a:pt x="96818" y="5725863"/>
                </a:moveTo>
                <a:lnTo>
                  <a:pt x="59157" y="5714009"/>
                </a:lnTo>
                <a:lnTo>
                  <a:pt x="28380" y="5681698"/>
                </a:lnTo>
                <a:lnTo>
                  <a:pt x="7616" y="5633802"/>
                </a:lnTo>
                <a:lnTo>
                  <a:pt x="0" y="5575195"/>
                </a:lnTo>
                <a:lnTo>
                  <a:pt x="0" y="150667"/>
                </a:lnTo>
                <a:lnTo>
                  <a:pt x="7616" y="92060"/>
                </a:lnTo>
                <a:lnTo>
                  <a:pt x="28380" y="44164"/>
                </a:lnTo>
                <a:lnTo>
                  <a:pt x="59157" y="11853"/>
                </a:lnTo>
                <a:lnTo>
                  <a:pt x="96818" y="0"/>
                </a:lnTo>
                <a:lnTo>
                  <a:pt x="134479" y="11853"/>
                </a:lnTo>
                <a:lnTo>
                  <a:pt x="165257" y="44164"/>
                </a:lnTo>
                <a:lnTo>
                  <a:pt x="186020" y="92060"/>
                </a:lnTo>
                <a:lnTo>
                  <a:pt x="193637" y="150667"/>
                </a:lnTo>
                <a:lnTo>
                  <a:pt x="193637" y="5575195"/>
                </a:lnTo>
                <a:lnTo>
                  <a:pt x="186020" y="5633802"/>
                </a:lnTo>
                <a:lnTo>
                  <a:pt x="165257" y="5681698"/>
                </a:lnTo>
                <a:lnTo>
                  <a:pt x="134479" y="5714009"/>
                </a:lnTo>
                <a:lnTo>
                  <a:pt x="96818" y="5725863"/>
                </a:lnTo>
                <a:close/>
              </a:path>
            </a:pathLst>
          </a:custGeom>
          <a:solidFill>
            <a:srgbClr val="4289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ED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79538" y="548544"/>
            <a:ext cx="401256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25"/>
              <a:t>RESEARCH</a:t>
            </a:r>
            <a:r>
              <a:rPr dirty="0" sz="2750" spc="-20"/>
              <a:t> </a:t>
            </a:r>
            <a:r>
              <a:rPr dirty="0" sz="2750" spc="275"/>
              <a:t>INSIGHTS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1099047" y="1365389"/>
            <a:ext cx="9973945" cy="701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400" spc="229" b="1">
                <a:solidFill>
                  <a:srgbClr val="3B4540"/>
                </a:solidFill>
                <a:latin typeface="Cambria"/>
                <a:cs typeface="Cambria"/>
              </a:rPr>
              <a:t>Digital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50" b="1">
                <a:solidFill>
                  <a:srgbClr val="3B4540"/>
                </a:solidFill>
                <a:latin typeface="Cambria"/>
                <a:cs typeface="Cambria"/>
              </a:rPr>
              <a:t>Misinformation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190" b="1">
                <a:solidFill>
                  <a:srgbClr val="3B4540"/>
                </a:solidFill>
                <a:latin typeface="Cambria"/>
                <a:cs typeface="Cambria"/>
              </a:rPr>
              <a:t>in</a:t>
            </a:r>
            <a:r>
              <a:rPr dirty="0" sz="4400" spc="-2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15" b="1">
                <a:solidFill>
                  <a:srgbClr val="3B4540"/>
                </a:solidFill>
                <a:latin typeface="Cambria"/>
                <a:cs typeface="Cambria"/>
              </a:rPr>
              <a:t>Elections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100"/>
              </a:lnSpc>
              <a:spcBef>
                <a:spcPts val="90"/>
              </a:spcBef>
            </a:pPr>
            <a:r>
              <a:rPr dirty="0"/>
              <a:t>During</a:t>
            </a:r>
            <a:r>
              <a:rPr dirty="0" spc="100"/>
              <a:t> </a:t>
            </a:r>
            <a:r>
              <a:rPr dirty="0"/>
              <a:t>major</a:t>
            </a:r>
            <a:r>
              <a:rPr dirty="0" spc="100"/>
              <a:t> </a:t>
            </a:r>
            <a:r>
              <a:rPr dirty="0"/>
              <a:t>elections</a:t>
            </a:r>
            <a:r>
              <a:rPr dirty="0" spc="100"/>
              <a:t> </a:t>
            </a:r>
            <a:r>
              <a:rPr dirty="0"/>
              <a:t>globally,</a:t>
            </a:r>
            <a:r>
              <a:rPr dirty="0" spc="100"/>
              <a:t> </a:t>
            </a:r>
            <a:r>
              <a:rPr dirty="0"/>
              <a:t>fake</a:t>
            </a:r>
            <a:r>
              <a:rPr dirty="0" spc="105"/>
              <a:t> </a:t>
            </a:r>
            <a:r>
              <a:rPr dirty="0"/>
              <a:t>news</a:t>
            </a:r>
            <a:r>
              <a:rPr dirty="0" spc="100"/>
              <a:t> </a:t>
            </a:r>
            <a:r>
              <a:rPr dirty="0"/>
              <a:t>spread</a:t>
            </a:r>
            <a:r>
              <a:rPr dirty="0" spc="100"/>
              <a:t> </a:t>
            </a:r>
            <a:r>
              <a:rPr dirty="0"/>
              <a:t>widely</a:t>
            </a:r>
            <a:r>
              <a:rPr dirty="0" spc="100"/>
              <a:t> </a:t>
            </a:r>
            <a:r>
              <a:rPr dirty="0"/>
              <a:t>through</a:t>
            </a:r>
            <a:r>
              <a:rPr dirty="0" spc="100"/>
              <a:t> </a:t>
            </a:r>
            <a:r>
              <a:rPr dirty="0"/>
              <a:t>social</a:t>
            </a:r>
            <a:r>
              <a:rPr dirty="0" spc="100"/>
              <a:t> </a:t>
            </a:r>
            <a:r>
              <a:rPr dirty="0" spc="-10"/>
              <a:t>media </a:t>
            </a:r>
            <a:r>
              <a:rPr dirty="0"/>
              <a:t>Targeted</a:t>
            </a:r>
            <a:r>
              <a:rPr dirty="0" spc="80"/>
              <a:t> </a:t>
            </a:r>
            <a:r>
              <a:rPr dirty="0"/>
              <a:t>ads</a:t>
            </a:r>
            <a:r>
              <a:rPr dirty="0" spc="95"/>
              <a:t> </a:t>
            </a:r>
            <a:r>
              <a:rPr dirty="0"/>
              <a:t>were</a:t>
            </a:r>
            <a:r>
              <a:rPr dirty="0" spc="90"/>
              <a:t> </a:t>
            </a:r>
            <a:r>
              <a:rPr dirty="0"/>
              <a:t>used</a:t>
            </a:r>
            <a:r>
              <a:rPr dirty="0" spc="95"/>
              <a:t> </a:t>
            </a:r>
            <a:r>
              <a:rPr dirty="0"/>
              <a:t>to</a:t>
            </a:r>
            <a:r>
              <a:rPr dirty="0" spc="90"/>
              <a:t> </a:t>
            </a:r>
            <a:r>
              <a:rPr dirty="0"/>
              <a:t>influence</a:t>
            </a:r>
            <a:r>
              <a:rPr dirty="0" spc="95"/>
              <a:t> </a:t>
            </a:r>
            <a:r>
              <a:rPr dirty="0"/>
              <a:t>specific</a:t>
            </a:r>
            <a:r>
              <a:rPr dirty="0" spc="90"/>
              <a:t> </a:t>
            </a:r>
            <a:r>
              <a:rPr dirty="0"/>
              <a:t>voter</a:t>
            </a:r>
            <a:r>
              <a:rPr dirty="0" spc="95"/>
              <a:t> </a:t>
            </a:r>
            <a:r>
              <a:rPr dirty="0" spc="-10"/>
              <a:t>groups</a:t>
            </a: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/>
              <a:t>Deepfake</a:t>
            </a:r>
            <a:r>
              <a:rPr dirty="0" spc="125"/>
              <a:t> </a:t>
            </a:r>
            <a:r>
              <a:rPr dirty="0"/>
              <a:t>technology</a:t>
            </a:r>
            <a:r>
              <a:rPr dirty="0" spc="125"/>
              <a:t> </a:t>
            </a:r>
            <a:r>
              <a:rPr dirty="0"/>
              <a:t>created</a:t>
            </a:r>
            <a:r>
              <a:rPr dirty="0" spc="120"/>
              <a:t> </a:t>
            </a:r>
            <a:r>
              <a:rPr dirty="0"/>
              <a:t>confusion</a:t>
            </a:r>
            <a:r>
              <a:rPr dirty="0" spc="125"/>
              <a:t> </a:t>
            </a:r>
            <a:r>
              <a:rPr dirty="0"/>
              <a:t>among</a:t>
            </a:r>
            <a:r>
              <a:rPr dirty="0" spc="125"/>
              <a:t> </a:t>
            </a:r>
            <a:r>
              <a:rPr dirty="0" spc="-10"/>
              <a:t>voters</a:t>
            </a:r>
          </a:p>
          <a:p>
            <a:pPr marL="12700" marR="2054860">
              <a:lnSpc>
                <a:spcPct val="136100"/>
              </a:lnSpc>
            </a:pPr>
            <a:r>
              <a:rPr dirty="0"/>
              <a:t>Young</a:t>
            </a:r>
            <a:r>
              <a:rPr dirty="0" spc="95"/>
              <a:t> </a:t>
            </a:r>
            <a:r>
              <a:rPr dirty="0"/>
              <a:t>voters</a:t>
            </a:r>
            <a:r>
              <a:rPr dirty="0" spc="100"/>
              <a:t> </a:t>
            </a:r>
            <a:r>
              <a:rPr dirty="0"/>
              <a:t>were</a:t>
            </a:r>
            <a:r>
              <a:rPr dirty="0" spc="95"/>
              <a:t> </a:t>
            </a:r>
            <a:r>
              <a:rPr dirty="0"/>
              <a:t>highly</a:t>
            </a:r>
            <a:r>
              <a:rPr dirty="0" spc="100"/>
              <a:t> </a:t>
            </a:r>
            <a:r>
              <a:rPr dirty="0"/>
              <a:t>influenced</a:t>
            </a:r>
            <a:r>
              <a:rPr dirty="0" spc="95"/>
              <a:t> </a:t>
            </a:r>
            <a:r>
              <a:rPr dirty="0"/>
              <a:t>by</a:t>
            </a:r>
            <a:r>
              <a:rPr dirty="0" spc="95"/>
              <a:t> </a:t>
            </a:r>
            <a:r>
              <a:rPr dirty="0"/>
              <a:t>online</a:t>
            </a:r>
            <a:r>
              <a:rPr dirty="0" spc="100"/>
              <a:t> </a:t>
            </a:r>
            <a:r>
              <a:rPr dirty="0"/>
              <a:t>political</a:t>
            </a:r>
            <a:r>
              <a:rPr dirty="0" spc="95"/>
              <a:t> </a:t>
            </a:r>
            <a:r>
              <a:rPr dirty="0" spc="-10"/>
              <a:t>content </a:t>
            </a:r>
            <a:r>
              <a:rPr dirty="0"/>
              <a:t>Key</a:t>
            </a:r>
            <a:r>
              <a:rPr dirty="0" spc="65"/>
              <a:t> </a:t>
            </a:r>
            <a:r>
              <a:rPr dirty="0" spc="-10"/>
              <a:t>Findings:</a:t>
            </a:r>
          </a:p>
          <a:p>
            <a:pPr marL="12700" marR="585470">
              <a:lnSpc>
                <a:spcPct val="136100"/>
              </a:lnSpc>
            </a:pPr>
            <a:r>
              <a:rPr dirty="0"/>
              <a:t>Emotional</a:t>
            </a:r>
            <a:r>
              <a:rPr dirty="0" spc="105"/>
              <a:t> </a:t>
            </a:r>
            <a:r>
              <a:rPr dirty="0"/>
              <a:t>and</a:t>
            </a:r>
            <a:r>
              <a:rPr dirty="0" spc="110"/>
              <a:t> </a:t>
            </a:r>
            <a:r>
              <a:rPr dirty="0"/>
              <a:t>sensational</a:t>
            </a:r>
            <a:r>
              <a:rPr dirty="0" spc="105"/>
              <a:t> </a:t>
            </a:r>
            <a:r>
              <a:rPr dirty="0"/>
              <a:t>content</a:t>
            </a:r>
            <a:r>
              <a:rPr dirty="0" spc="105"/>
              <a:t> </a:t>
            </a:r>
            <a:r>
              <a:rPr dirty="0"/>
              <a:t>spreads</a:t>
            </a:r>
            <a:r>
              <a:rPr dirty="0" spc="105"/>
              <a:t> </a:t>
            </a:r>
            <a:r>
              <a:rPr dirty="0"/>
              <a:t>faster</a:t>
            </a:r>
            <a:r>
              <a:rPr dirty="0" spc="110"/>
              <a:t> </a:t>
            </a:r>
            <a:r>
              <a:rPr dirty="0"/>
              <a:t>than</a:t>
            </a:r>
            <a:r>
              <a:rPr dirty="0" spc="105"/>
              <a:t> </a:t>
            </a:r>
            <a:r>
              <a:rPr dirty="0"/>
              <a:t>factual</a:t>
            </a:r>
            <a:r>
              <a:rPr dirty="0" spc="105"/>
              <a:t> </a:t>
            </a:r>
            <a:r>
              <a:rPr dirty="0" spc="-10"/>
              <a:t>information </a:t>
            </a:r>
            <a:r>
              <a:rPr dirty="0"/>
              <a:t>Low</a:t>
            </a:r>
            <a:r>
              <a:rPr dirty="0" spc="90"/>
              <a:t> </a:t>
            </a:r>
            <a:r>
              <a:rPr dirty="0"/>
              <a:t>digital</a:t>
            </a:r>
            <a:r>
              <a:rPr dirty="0" spc="90"/>
              <a:t> </a:t>
            </a:r>
            <a:r>
              <a:rPr dirty="0"/>
              <a:t>literacy</a:t>
            </a:r>
            <a:r>
              <a:rPr dirty="0" spc="90"/>
              <a:t> </a:t>
            </a:r>
            <a:r>
              <a:rPr dirty="0"/>
              <a:t>increases</a:t>
            </a:r>
            <a:r>
              <a:rPr dirty="0" spc="90"/>
              <a:t> </a:t>
            </a:r>
            <a:r>
              <a:rPr dirty="0"/>
              <a:t>belief</a:t>
            </a:r>
            <a:r>
              <a:rPr dirty="0" spc="90"/>
              <a:t> </a:t>
            </a:r>
            <a:r>
              <a:rPr dirty="0"/>
              <a:t>in</a:t>
            </a:r>
            <a:r>
              <a:rPr dirty="0" spc="90"/>
              <a:t> </a:t>
            </a:r>
            <a:r>
              <a:rPr dirty="0"/>
              <a:t>fake</a:t>
            </a:r>
            <a:r>
              <a:rPr dirty="0" spc="85"/>
              <a:t> </a:t>
            </a:r>
            <a:r>
              <a:rPr dirty="0" spc="-20"/>
              <a:t>news</a:t>
            </a: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/>
              <a:t>Research-Based</a:t>
            </a:r>
            <a:r>
              <a:rPr dirty="0" spc="195"/>
              <a:t> </a:t>
            </a:r>
            <a:r>
              <a:rPr dirty="0" spc="-10"/>
              <a:t>Insights</a:t>
            </a:r>
          </a:p>
          <a:p>
            <a:pPr marL="12700" marR="1830705">
              <a:lnSpc>
                <a:spcPct val="136100"/>
              </a:lnSpc>
            </a:pPr>
            <a:r>
              <a:rPr dirty="0"/>
              <a:t>Misinformation</a:t>
            </a:r>
            <a:r>
              <a:rPr dirty="0" spc="110"/>
              <a:t> </a:t>
            </a:r>
            <a:r>
              <a:rPr dirty="0"/>
              <a:t>reduces</a:t>
            </a:r>
            <a:r>
              <a:rPr dirty="0" spc="120"/>
              <a:t> </a:t>
            </a:r>
            <a:r>
              <a:rPr dirty="0"/>
              <a:t>voter</a:t>
            </a:r>
            <a:r>
              <a:rPr dirty="0" spc="120"/>
              <a:t> </a:t>
            </a:r>
            <a:r>
              <a:rPr dirty="0"/>
              <a:t>confidence</a:t>
            </a:r>
            <a:r>
              <a:rPr dirty="0" spc="120"/>
              <a:t> </a:t>
            </a:r>
            <a:r>
              <a:rPr dirty="0"/>
              <a:t>in</a:t>
            </a:r>
            <a:r>
              <a:rPr dirty="0" spc="125"/>
              <a:t> </a:t>
            </a:r>
            <a:r>
              <a:rPr dirty="0"/>
              <a:t>democratic</a:t>
            </a:r>
            <a:r>
              <a:rPr dirty="0" spc="120"/>
              <a:t> </a:t>
            </a:r>
            <a:r>
              <a:rPr dirty="0" spc="-10"/>
              <a:t>systems </a:t>
            </a:r>
            <a:r>
              <a:rPr dirty="0"/>
              <a:t>Algorithm-based</a:t>
            </a:r>
            <a:r>
              <a:rPr dirty="0" spc="120"/>
              <a:t> </a:t>
            </a:r>
            <a:r>
              <a:rPr dirty="0"/>
              <a:t>platforms</a:t>
            </a:r>
            <a:r>
              <a:rPr dirty="0" spc="135"/>
              <a:t> </a:t>
            </a:r>
            <a:r>
              <a:rPr dirty="0"/>
              <a:t>amplify</a:t>
            </a:r>
            <a:r>
              <a:rPr dirty="0" spc="130"/>
              <a:t> </a:t>
            </a:r>
            <a:r>
              <a:rPr dirty="0"/>
              <a:t>extreme</a:t>
            </a:r>
            <a:r>
              <a:rPr dirty="0" spc="135"/>
              <a:t> </a:t>
            </a:r>
            <a:r>
              <a:rPr dirty="0"/>
              <a:t>political</a:t>
            </a:r>
            <a:r>
              <a:rPr dirty="0" spc="130"/>
              <a:t> </a:t>
            </a:r>
            <a:r>
              <a:rPr dirty="0" spc="-10"/>
              <a:t>content </a:t>
            </a:r>
            <a:r>
              <a:rPr dirty="0"/>
              <a:t>Strong</a:t>
            </a:r>
            <a:r>
              <a:rPr dirty="0" spc="114"/>
              <a:t> </a:t>
            </a:r>
            <a:r>
              <a:rPr dirty="0"/>
              <a:t>fact-checking</a:t>
            </a:r>
            <a:r>
              <a:rPr dirty="0" spc="125"/>
              <a:t> </a:t>
            </a:r>
            <a:r>
              <a:rPr dirty="0"/>
              <a:t>systems</a:t>
            </a:r>
            <a:r>
              <a:rPr dirty="0" spc="120"/>
              <a:t> </a:t>
            </a:r>
            <a:r>
              <a:rPr dirty="0"/>
              <a:t>can</a:t>
            </a:r>
            <a:r>
              <a:rPr dirty="0" spc="125"/>
              <a:t> </a:t>
            </a:r>
            <a:r>
              <a:rPr dirty="0"/>
              <a:t>reduce</a:t>
            </a:r>
            <a:r>
              <a:rPr dirty="0" spc="125"/>
              <a:t> </a:t>
            </a:r>
            <a:r>
              <a:rPr dirty="0"/>
              <a:t>misinformation</a:t>
            </a:r>
            <a:r>
              <a:rPr dirty="0" spc="125"/>
              <a:t> </a:t>
            </a:r>
            <a:r>
              <a:rPr dirty="0" spc="-10"/>
              <a:t>impact</a:t>
            </a: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/>
              <a:t>Electoral</a:t>
            </a:r>
            <a:r>
              <a:rPr dirty="0" spc="110"/>
              <a:t> </a:t>
            </a:r>
            <a:r>
              <a:rPr dirty="0"/>
              <a:t>reforms</a:t>
            </a:r>
            <a:r>
              <a:rPr dirty="0" spc="114"/>
              <a:t> </a:t>
            </a:r>
            <a:r>
              <a:rPr dirty="0"/>
              <a:t>and</a:t>
            </a:r>
            <a:r>
              <a:rPr dirty="0" spc="110"/>
              <a:t> </a:t>
            </a:r>
            <a:r>
              <a:rPr dirty="0"/>
              <a:t>media</a:t>
            </a:r>
            <a:r>
              <a:rPr dirty="0" spc="110"/>
              <a:t> </a:t>
            </a:r>
            <a:r>
              <a:rPr dirty="0"/>
              <a:t>literacy</a:t>
            </a:r>
            <a:r>
              <a:rPr dirty="0" spc="114"/>
              <a:t> </a:t>
            </a:r>
            <a:r>
              <a:rPr dirty="0"/>
              <a:t>programs</a:t>
            </a:r>
            <a:r>
              <a:rPr dirty="0" spc="110"/>
              <a:t> </a:t>
            </a:r>
            <a:r>
              <a:rPr dirty="0"/>
              <a:t>strengthen</a:t>
            </a:r>
            <a:r>
              <a:rPr dirty="0" spc="110"/>
              <a:t> </a:t>
            </a:r>
            <a:r>
              <a:rPr dirty="0" spc="-10"/>
              <a:t>democracy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7272" y="2473518"/>
            <a:ext cx="7660727" cy="5539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414180" y="2979035"/>
            <a:ext cx="156654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 b="1">
                <a:solidFill>
                  <a:srgbClr val="405349"/>
                </a:solidFill>
                <a:latin typeface="Cambria"/>
                <a:cs typeface="Cambria"/>
              </a:rPr>
              <a:t>Surface</a:t>
            </a:r>
            <a:r>
              <a:rPr dirty="0" sz="165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405349"/>
                </a:solidFill>
                <a:latin typeface="Cambria"/>
                <a:cs typeface="Cambria"/>
              </a:rPr>
              <a:t>Trend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59417" y="3805826"/>
            <a:ext cx="271780" cy="4339590"/>
            <a:chOff x="11059417" y="3805826"/>
            <a:chExt cx="271780" cy="4339590"/>
          </a:xfrm>
        </p:grpSpPr>
        <p:sp>
          <p:nvSpPr>
            <p:cNvPr id="9" name="object 9"/>
            <p:cNvSpPr/>
            <p:nvPr/>
          </p:nvSpPr>
          <p:spPr>
            <a:xfrm>
              <a:off x="11065225" y="3811634"/>
              <a:ext cx="259079" cy="234315"/>
            </a:xfrm>
            <a:custGeom>
              <a:avLst/>
              <a:gdLst/>
              <a:ahLst/>
              <a:cxnLst/>
              <a:rect l="l" t="t" r="r" b="b"/>
              <a:pathLst>
                <a:path w="259079" h="234314">
                  <a:moveTo>
                    <a:pt x="0" y="0"/>
                  </a:moveTo>
                  <a:lnTo>
                    <a:pt x="70" y="233940"/>
                  </a:lnTo>
                  <a:lnTo>
                    <a:pt x="258545" y="233934"/>
                  </a:lnTo>
                </a:path>
                <a:path w="259079" h="234314">
                  <a:moveTo>
                    <a:pt x="211898" y="16447"/>
                  </a:moveTo>
                  <a:lnTo>
                    <a:pt x="257522" y="2834"/>
                  </a:lnTo>
                  <a:lnTo>
                    <a:pt x="160211" y="134016"/>
                  </a:lnTo>
                  <a:lnTo>
                    <a:pt x="115156" y="86732"/>
                  </a:lnTo>
                </a:path>
                <a:path w="259079" h="234314">
                  <a:moveTo>
                    <a:pt x="28704" y="193330"/>
                  </a:moveTo>
                  <a:lnTo>
                    <a:pt x="115156" y="86732"/>
                  </a:lnTo>
                </a:path>
                <a:path w="259079" h="234314">
                  <a:moveTo>
                    <a:pt x="258648" y="49036"/>
                  </a:moveTo>
                  <a:lnTo>
                    <a:pt x="258792" y="2455"/>
                  </a:lnTo>
                </a:path>
              </a:pathLst>
            </a:custGeom>
            <a:ln w="116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063240" y="4833904"/>
              <a:ext cx="259715" cy="224154"/>
            </a:xfrm>
            <a:custGeom>
              <a:avLst/>
              <a:gdLst/>
              <a:ahLst/>
              <a:cxnLst/>
              <a:rect l="l" t="t" r="r" b="b"/>
              <a:pathLst>
                <a:path w="259715" h="224154">
                  <a:moveTo>
                    <a:pt x="216165" y="159444"/>
                  </a:moveTo>
                  <a:lnTo>
                    <a:pt x="212814" y="201387"/>
                  </a:lnTo>
                  <a:lnTo>
                    <a:pt x="182664" y="223728"/>
                  </a:lnTo>
                  <a:lnTo>
                    <a:pt x="166842" y="223968"/>
                  </a:lnTo>
                </a:path>
                <a:path w="259715" h="224154">
                  <a:moveTo>
                    <a:pt x="2523" y="19"/>
                  </a:moveTo>
                  <a:lnTo>
                    <a:pt x="15936" y="0"/>
                  </a:lnTo>
                </a:path>
                <a:path w="259715" h="224154">
                  <a:moveTo>
                    <a:pt x="175924" y="27"/>
                  </a:moveTo>
                  <a:lnTo>
                    <a:pt x="211338" y="18986"/>
                  </a:lnTo>
                  <a:lnTo>
                    <a:pt x="215925" y="38867"/>
                  </a:lnTo>
                  <a:lnTo>
                    <a:pt x="216069" y="66941"/>
                  </a:lnTo>
                </a:path>
                <a:path w="259715" h="224154">
                  <a:moveTo>
                    <a:pt x="259698" y="49778"/>
                  </a:moveTo>
                  <a:lnTo>
                    <a:pt x="216069" y="66941"/>
                  </a:lnTo>
                </a:path>
                <a:path w="259715" h="224154">
                  <a:moveTo>
                    <a:pt x="259698" y="176392"/>
                  </a:moveTo>
                  <a:lnTo>
                    <a:pt x="216165" y="159444"/>
                  </a:lnTo>
                </a:path>
                <a:path w="259715" h="224154">
                  <a:moveTo>
                    <a:pt x="166842" y="223968"/>
                  </a:moveTo>
                  <a:lnTo>
                    <a:pt x="0" y="223979"/>
                  </a:lnTo>
                </a:path>
                <a:path w="259715" h="224154">
                  <a:moveTo>
                    <a:pt x="15936" y="0"/>
                  </a:moveTo>
                  <a:lnTo>
                    <a:pt x="175924" y="27"/>
                  </a:lnTo>
                </a:path>
              </a:pathLst>
            </a:custGeom>
            <a:ln w="15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114093" y="5834586"/>
              <a:ext cx="158115" cy="253365"/>
            </a:xfrm>
            <a:custGeom>
              <a:avLst/>
              <a:gdLst/>
              <a:ahLst/>
              <a:cxnLst/>
              <a:rect l="l" t="t" r="r" b="b"/>
              <a:pathLst>
                <a:path w="158115" h="253364">
                  <a:moveTo>
                    <a:pt x="27871" y="196408"/>
                  </a:moveTo>
                  <a:lnTo>
                    <a:pt x="41432" y="234659"/>
                  </a:lnTo>
                  <a:lnTo>
                    <a:pt x="80653" y="253272"/>
                  </a:lnTo>
                  <a:lnTo>
                    <a:pt x="86504" y="253207"/>
                  </a:lnTo>
                  <a:lnTo>
                    <a:pt x="120095" y="229815"/>
                  </a:lnTo>
                  <a:lnTo>
                    <a:pt x="132255" y="184295"/>
                  </a:lnTo>
                  <a:lnTo>
                    <a:pt x="135055" y="165482"/>
                  </a:lnTo>
                  <a:lnTo>
                    <a:pt x="158075" y="0"/>
                  </a:lnTo>
                </a:path>
                <a:path w="158115" h="253364">
                  <a:moveTo>
                    <a:pt x="0" y="0"/>
                  </a:moveTo>
                  <a:lnTo>
                    <a:pt x="27871" y="196408"/>
                  </a:lnTo>
                </a:path>
              </a:pathLst>
            </a:custGeom>
            <a:ln w="320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63167" y="6859921"/>
              <a:ext cx="262367" cy="2410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078657" y="7881880"/>
              <a:ext cx="231775" cy="257175"/>
            </a:xfrm>
            <a:custGeom>
              <a:avLst/>
              <a:gdLst/>
              <a:ahLst/>
              <a:cxnLst/>
              <a:rect l="l" t="t" r="r" b="b"/>
              <a:pathLst>
                <a:path w="231775" h="257175">
                  <a:moveTo>
                    <a:pt x="99193" y="0"/>
                  </a:moveTo>
                  <a:lnTo>
                    <a:pt x="61776" y="18588"/>
                  </a:lnTo>
                  <a:lnTo>
                    <a:pt x="21071" y="28319"/>
                  </a:lnTo>
                  <a:lnTo>
                    <a:pt x="1714" y="30371"/>
                  </a:lnTo>
                </a:path>
                <a:path w="231775" h="257175">
                  <a:moveTo>
                    <a:pt x="230106" y="30662"/>
                  </a:moveTo>
                  <a:lnTo>
                    <a:pt x="224241" y="29884"/>
                  </a:lnTo>
                  <a:lnTo>
                    <a:pt x="215753" y="28816"/>
                  </a:lnTo>
                  <a:lnTo>
                    <a:pt x="205951" y="27506"/>
                  </a:lnTo>
                  <a:lnTo>
                    <a:pt x="168217" y="18219"/>
                  </a:lnTo>
                  <a:lnTo>
                    <a:pt x="135765" y="2328"/>
                  </a:lnTo>
                  <a:lnTo>
                    <a:pt x="132167" y="0"/>
                  </a:lnTo>
                </a:path>
                <a:path w="231775" h="257175">
                  <a:moveTo>
                    <a:pt x="134342" y="257174"/>
                  </a:moveTo>
                  <a:lnTo>
                    <a:pt x="164294" y="232770"/>
                  </a:lnTo>
                  <a:lnTo>
                    <a:pt x="190936" y="203421"/>
                  </a:lnTo>
                  <a:lnTo>
                    <a:pt x="211827" y="167602"/>
                  </a:lnTo>
                  <a:lnTo>
                    <a:pt x="225141" y="127138"/>
                  </a:lnTo>
                  <a:lnTo>
                    <a:pt x="231167" y="78471"/>
                  </a:lnTo>
                  <a:lnTo>
                    <a:pt x="231392" y="60079"/>
                  </a:lnTo>
                </a:path>
                <a:path w="231775" h="257175">
                  <a:moveTo>
                    <a:pt x="231289" y="39946"/>
                  </a:moveTo>
                  <a:lnTo>
                    <a:pt x="231131" y="36832"/>
                  </a:lnTo>
                  <a:lnTo>
                    <a:pt x="230737" y="33737"/>
                  </a:lnTo>
                  <a:lnTo>
                    <a:pt x="230106" y="30662"/>
                  </a:lnTo>
                </a:path>
                <a:path w="231775" h="257175">
                  <a:moveTo>
                    <a:pt x="414" y="34724"/>
                  </a:moveTo>
                  <a:lnTo>
                    <a:pt x="223" y="37636"/>
                  </a:lnTo>
                  <a:lnTo>
                    <a:pt x="84" y="42895"/>
                  </a:lnTo>
                  <a:lnTo>
                    <a:pt x="6" y="50894"/>
                  </a:lnTo>
                  <a:lnTo>
                    <a:pt x="0" y="62030"/>
                  </a:lnTo>
                  <a:lnTo>
                    <a:pt x="265" y="71477"/>
                  </a:lnTo>
                  <a:lnTo>
                    <a:pt x="5097" y="118360"/>
                  </a:lnTo>
                  <a:lnTo>
                    <a:pt x="16064" y="159016"/>
                  </a:lnTo>
                  <a:lnTo>
                    <a:pt x="34651" y="195099"/>
                  </a:lnTo>
                  <a:lnTo>
                    <a:pt x="62140" y="228575"/>
                  </a:lnTo>
                  <a:lnTo>
                    <a:pt x="94377" y="255661"/>
                  </a:lnTo>
                  <a:lnTo>
                    <a:pt x="96562" y="257174"/>
                  </a:lnTo>
                </a:path>
                <a:path w="231775" h="257175">
                  <a:moveTo>
                    <a:pt x="1714" y="30371"/>
                  </a:moveTo>
                  <a:lnTo>
                    <a:pt x="414" y="34724"/>
                  </a:lnTo>
                </a:path>
                <a:path w="231775" h="257175">
                  <a:moveTo>
                    <a:pt x="231392" y="60079"/>
                  </a:moveTo>
                  <a:lnTo>
                    <a:pt x="231289" y="39946"/>
                  </a:lnTo>
                </a:path>
              </a:pathLst>
            </a:custGeom>
            <a:ln w="124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5414180" y="4024966"/>
            <a:ext cx="129667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405349"/>
                </a:solidFill>
                <a:latin typeface="Cambria"/>
                <a:cs typeface="Cambria"/>
              </a:rPr>
              <a:t>Visible</a:t>
            </a:r>
            <a:r>
              <a:rPr dirty="0" sz="1650" spc="1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1650" spc="100" b="1">
                <a:solidFill>
                  <a:srgbClr val="405349"/>
                </a:solidFill>
                <a:latin typeface="Cambria"/>
                <a:cs typeface="Cambria"/>
              </a:rPr>
              <a:t>Risk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14180" y="5036283"/>
            <a:ext cx="161544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405349"/>
                </a:solidFill>
                <a:latin typeface="Cambria"/>
                <a:cs typeface="Cambria"/>
              </a:rPr>
              <a:t>Model</a:t>
            </a:r>
            <a:r>
              <a:rPr dirty="0" sz="16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1650" spc="70" b="1">
                <a:solidFill>
                  <a:srgbClr val="405349"/>
                </a:solidFill>
                <a:latin typeface="Cambria"/>
                <a:cs typeface="Cambria"/>
              </a:rPr>
              <a:t>Failures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69204" y="6051152"/>
            <a:ext cx="292798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 b="1">
                <a:solidFill>
                  <a:srgbClr val="405349"/>
                </a:solidFill>
                <a:latin typeface="Cambria"/>
                <a:cs typeface="Cambria"/>
              </a:rPr>
              <a:t>Compression</a:t>
            </a:r>
            <a:r>
              <a:rPr dirty="0" sz="1650" spc="2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1650" spc="75" b="1">
                <a:solidFill>
                  <a:srgbClr val="405349"/>
                </a:solidFill>
                <a:latin typeface="Cambria"/>
                <a:cs typeface="Cambria"/>
              </a:rPr>
              <a:t>Vulnerability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14180" y="7041972"/>
            <a:ext cx="178943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405349"/>
                </a:solidFill>
                <a:latin typeface="Cambria"/>
                <a:cs typeface="Cambria"/>
              </a:rPr>
              <a:t>System</a:t>
            </a:r>
            <a:r>
              <a:rPr dirty="0" sz="165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405349"/>
                </a:solidFill>
                <a:latin typeface="Cambria"/>
                <a:cs typeface="Cambria"/>
              </a:rPr>
              <a:t>Fragility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98464" y="3328018"/>
            <a:ext cx="169545" cy="5725795"/>
          </a:xfrm>
          <a:custGeom>
            <a:avLst/>
            <a:gdLst/>
            <a:ahLst/>
            <a:cxnLst/>
            <a:rect l="l" t="t" r="r" b="b"/>
            <a:pathLst>
              <a:path w="169545" h="5725795">
                <a:moveTo>
                  <a:pt x="85338" y="5725639"/>
                </a:moveTo>
                <a:lnTo>
                  <a:pt x="84095" y="5725639"/>
                </a:lnTo>
                <a:lnTo>
                  <a:pt x="51763" y="5714009"/>
                </a:lnTo>
                <a:lnTo>
                  <a:pt x="24832" y="5681698"/>
                </a:lnTo>
                <a:lnTo>
                  <a:pt x="6665" y="5633802"/>
                </a:lnTo>
                <a:lnTo>
                  <a:pt x="0" y="5575195"/>
                </a:lnTo>
                <a:lnTo>
                  <a:pt x="0" y="150667"/>
                </a:lnTo>
                <a:lnTo>
                  <a:pt x="6665" y="92060"/>
                </a:lnTo>
                <a:lnTo>
                  <a:pt x="24832" y="44164"/>
                </a:lnTo>
                <a:lnTo>
                  <a:pt x="51763" y="11853"/>
                </a:lnTo>
                <a:lnTo>
                  <a:pt x="84716" y="0"/>
                </a:lnTo>
                <a:lnTo>
                  <a:pt x="117670" y="11853"/>
                </a:lnTo>
                <a:lnTo>
                  <a:pt x="144600" y="44164"/>
                </a:lnTo>
                <a:lnTo>
                  <a:pt x="162768" y="92060"/>
                </a:lnTo>
                <a:lnTo>
                  <a:pt x="169432" y="150667"/>
                </a:lnTo>
                <a:lnTo>
                  <a:pt x="169432" y="5575195"/>
                </a:lnTo>
                <a:lnTo>
                  <a:pt x="162768" y="5633802"/>
                </a:lnTo>
                <a:lnTo>
                  <a:pt x="144600" y="5681698"/>
                </a:lnTo>
                <a:lnTo>
                  <a:pt x="117670" y="5714009"/>
                </a:lnTo>
                <a:lnTo>
                  <a:pt x="85338" y="5725639"/>
                </a:lnTo>
                <a:close/>
              </a:path>
            </a:pathLst>
          </a:custGeom>
          <a:solidFill>
            <a:srgbClr val="4289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05935" y="446944"/>
            <a:ext cx="399732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150" b="1">
                <a:solidFill>
                  <a:srgbClr val="3B4540"/>
                </a:solidFill>
                <a:latin typeface="Cambria"/>
                <a:cs typeface="Cambria"/>
              </a:rPr>
              <a:t>Cyber</a:t>
            </a:r>
            <a:r>
              <a:rPr dirty="0" sz="2750" spc="-1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750" spc="160" b="1">
                <a:solidFill>
                  <a:srgbClr val="3B4540"/>
                </a:solidFill>
                <a:latin typeface="Cambria"/>
                <a:cs typeface="Cambria"/>
              </a:rPr>
              <a:t>Crime</a:t>
            </a:r>
            <a:r>
              <a:rPr dirty="0" sz="2750" spc="-1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2750" spc="125" b="1">
                <a:solidFill>
                  <a:srgbClr val="3B4540"/>
                </a:solidFill>
                <a:latin typeface="Cambria"/>
                <a:cs typeface="Cambria"/>
              </a:rPr>
              <a:t>Problems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21460" y="1307443"/>
            <a:ext cx="9131935" cy="701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20"/>
              <a:t>Financial</a:t>
            </a:r>
            <a:r>
              <a:rPr dirty="0" spc="-25"/>
              <a:t> </a:t>
            </a:r>
            <a:r>
              <a:rPr dirty="0" spc="250"/>
              <a:t>Fraud</a:t>
            </a:r>
            <a:r>
              <a:rPr dirty="0" spc="-20"/>
              <a:t> </a:t>
            </a:r>
            <a:r>
              <a:rPr dirty="0" spc="195"/>
              <a:t>&amp;</a:t>
            </a:r>
            <a:r>
              <a:rPr dirty="0" spc="-20"/>
              <a:t> </a:t>
            </a:r>
            <a:r>
              <a:rPr dirty="0" spc="215"/>
              <a:t>Identity</a:t>
            </a:r>
            <a:r>
              <a:rPr dirty="0" spc="-20"/>
              <a:t> </a:t>
            </a:r>
            <a:r>
              <a:rPr dirty="0" spc="280"/>
              <a:t>Theft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1578" y="3102061"/>
            <a:ext cx="5890260" cy="4996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155" b="1">
                <a:solidFill>
                  <a:srgbClr val="405349"/>
                </a:solidFill>
                <a:latin typeface="Cambria"/>
                <a:cs typeface="Cambria"/>
              </a:rPr>
              <a:t>Financial</a:t>
            </a:r>
            <a:r>
              <a:rPr dirty="0" sz="3300" spc="-1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60" b="1">
                <a:solidFill>
                  <a:srgbClr val="405349"/>
                </a:solidFill>
                <a:latin typeface="Cambria"/>
                <a:cs typeface="Cambria"/>
              </a:rPr>
              <a:t>Fraud</a:t>
            </a:r>
            <a:endParaRPr sz="3300">
              <a:latin typeface="Cambria"/>
              <a:cs typeface="Cambria"/>
            </a:endParaRPr>
          </a:p>
          <a:p>
            <a:pPr marL="12700" marR="223520">
              <a:lnSpc>
                <a:spcPct val="135600"/>
              </a:lnSpc>
              <a:spcBef>
                <a:spcPts val="735"/>
              </a:spcBef>
            </a:pP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Online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banking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phishing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attacks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Credit/debit</a:t>
            </a:r>
            <a:r>
              <a:rPr dirty="0" sz="23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card</a:t>
            </a:r>
            <a:r>
              <a:rPr dirty="0" sz="23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2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UPI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OTP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20">
                <a:solidFill>
                  <a:srgbClr val="405349"/>
                </a:solidFill>
                <a:latin typeface="Microsoft Sans Serif"/>
                <a:cs typeface="Microsoft Sans Serif"/>
              </a:rPr>
              <a:t>scams</a:t>
            </a:r>
            <a:endParaRPr sz="2350">
              <a:latin typeface="Microsoft Sans Serif"/>
              <a:cs typeface="Microsoft Sans Serif"/>
            </a:endParaRPr>
          </a:p>
          <a:p>
            <a:pPr marL="12700" marR="763905">
              <a:lnSpc>
                <a:spcPct val="135600"/>
              </a:lnSpc>
              <a:spcBef>
                <a:spcPts val="5"/>
              </a:spcBef>
            </a:pP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2350" spc="11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11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cryptocurrency</a:t>
            </a:r>
            <a:r>
              <a:rPr dirty="0" sz="23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scams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3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loan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job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offer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scams</a:t>
            </a:r>
            <a:r>
              <a:rPr dirty="0" sz="2350" spc="5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Impact:</a:t>
            </a:r>
            <a:endParaRPr sz="2350">
              <a:latin typeface="Microsoft Sans Serif"/>
              <a:cs typeface="Microsoft Sans Serif"/>
            </a:endParaRPr>
          </a:p>
          <a:p>
            <a:pPr marL="12700" marR="5080">
              <a:lnSpc>
                <a:spcPct val="135600"/>
              </a:lnSpc>
            </a:pP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23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loss</a:t>
            </a:r>
            <a:r>
              <a:rPr dirty="0" sz="23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3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individuals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Loss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trust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payment</a:t>
            </a:r>
            <a:r>
              <a:rPr dirty="0" sz="23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systems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Emotional</a:t>
            </a:r>
            <a:r>
              <a:rPr dirty="0" sz="23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stress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>
                <a:solidFill>
                  <a:srgbClr val="405349"/>
                </a:solidFill>
                <a:latin typeface="Microsoft Sans Serif"/>
                <a:cs typeface="Microsoft Sans Serif"/>
              </a:rPr>
              <a:t>legal</a:t>
            </a:r>
            <a:r>
              <a:rPr dirty="0" sz="23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50" spc="-10">
                <a:solidFill>
                  <a:srgbClr val="405349"/>
                </a:solidFill>
                <a:latin typeface="Microsoft Sans Serif"/>
                <a:cs typeface="Microsoft Sans Serif"/>
              </a:rPr>
              <a:t>complications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2670" y="3102061"/>
            <a:ext cx="6872605" cy="5062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10"/>
              </a:spcBef>
            </a:pPr>
            <a:r>
              <a:rPr dirty="0" sz="3300" spc="155" b="1">
                <a:solidFill>
                  <a:srgbClr val="405349"/>
                </a:solidFill>
                <a:latin typeface="Cambria"/>
                <a:cs typeface="Cambria"/>
              </a:rPr>
              <a:t>Identity</a:t>
            </a:r>
            <a:r>
              <a:rPr dirty="0" sz="3300" spc="-2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95" b="1">
                <a:solidFill>
                  <a:srgbClr val="405349"/>
                </a:solidFill>
                <a:latin typeface="Cambria"/>
                <a:cs typeface="Cambria"/>
              </a:rPr>
              <a:t>Theft</a:t>
            </a:r>
            <a:endParaRPr sz="3300">
              <a:latin typeface="Cambria"/>
              <a:cs typeface="Cambria"/>
            </a:endParaRPr>
          </a:p>
          <a:p>
            <a:pPr marL="12700" marR="117475">
              <a:lnSpc>
                <a:spcPct val="136100"/>
              </a:lnSpc>
              <a:spcBef>
                <a:spcPts val="2600"/>
              </a:spcBef>
            </a:pP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Stealing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data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(Aadhaar,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PAN,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bank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details)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SIM</a:t>
            </a:r>
            <a:r>
              <a:rPr dirty="0" sz="22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swap</a:t>
            </a:r>
            <a:r>
              <a:rPr dirty="0" sz="22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2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250" spc="9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media</a:t>
            </a:r>
            <a:r>
              <a:rPr dirty="0" sz="225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profiles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36100"/>
              </a:lnSpc>
            </a:pP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Unauthorized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use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250" spc="10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loans</a:t>
            </a:r>
            <a:r>
              <a:rPr dirty="0" sz="2250" spc="10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25">
                <a:solidFill>
                  <a:srgbClr val="405349"/>
                </a:solidFill>
                <a:latin typeface="Microsoft Sans Serif"/>
                <a:cs typeface="Microsoft Sans Serif"/>
              </a:rPr>
              <a:t>or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purchases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Consequences:</a:t>
            </a:r>
            <a:endParaRPr sz="2250">
              <a:latin typeface="Microsoft Sans Serif"/>
              <a:cs typeface="Microsoft Sans Serif"/>
            </a:endParaRPr>
          </a:p>
          <a:p>
            <a:pPr marL="12700" marR="4558665">
              <a:lnSpc>
                <a:spcPct val="136100"/>
              </a:lnSpc>
            </a:pP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2250" spc="12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damage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Reputation</a:t>
            </a:r>
            <a:r>
              <a:rPr dirty="0" sz="2250" spc="1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20">
                <a:solidFill>
                  <a:srgbClr val="405349"/>
                </a:solidFill>
                <a:latin typeface="Microsoft Sans Serif"/>
                <a:cs typeface="Microsoft Sans Serif"/>
              </a:rPr>
              <a:t>harm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Long</a:t>
            </a:r>
            <a:r>
              <a:rPr dirty="0" sz="2250" spc="9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recovery</a:t>
            </a:r>
            <a:r>
              <a:rPr dirty="0" sz="2250" spc="9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process</a:t>
            </a:r>
            <a:r>
              <a:rPr dirty="0" sz="2250" spc="9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250" spc="9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250" spc="-10">
                <a:solidFill>
                  <a:srgbClr val="405349"/>
                </a:solidFill>
                <a:latin typeface="Microsoft Sans Serif"/>
                <a:cs typeface="Microsoft Sans Serif"/>
              </a:rPr>
              <a:t>victims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ED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3748702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4196377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4644051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5091726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5539401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5987076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6434751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6882426"/>
            <a:ext cx="76200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7330101"/>
            <a:ext cx="76200" cy="76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7777776"/>
            <a:ext cx="76200" cy="761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8225451"/>
            <a:ext cx="76200" cy="761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8" y="8673126"/>
            <a:ext cx="76200" cy="761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09192" y="3458176"/>
            <a:ext cx="9133840" cy="5397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363980">
              <a:lnSpc>
                <a:spcPct val="136600"/>
              </a:lnSpc>
              <a:spcBef>
                <a:spcPts val="9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Rapid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growth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→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rise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cases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Increase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phishing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ransomware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attacks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worldwide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among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top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reported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crimes</a:t>
            </a:r>
            <a:endParaRPr sz="2150">
              <a:latin typeface="Microsoft Sans Serif"/>
              <a:cs typeface="Microsoft Sans Serif"/>
            </a:endParaRPr>
          </a:p>
          <a:p>
            <a:pPr marL="12700" marR="4018915">
              <a:lnSpc>
                <a:spcPct val="136600"/>
              </a:lnSpc>
              <a:spcBef>
                <a:spcPts val="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India-Specific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Data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(Recent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Trends)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Significant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rise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UPI-related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cases</a:t>
            </a:r>
            <a:endParaRPr sz="2150">
              <a:latin typeface="Microsoft Sans Serif"/>
              <a:cs typeface="Microsoft Sans Serif"/>
            </a:endParaRPr>
          </a:p>
          <a:p>
            <a:pPr marL="12700" marR="577215">
              <a:lnSpc>
                <a:spcPct val="1366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Thousands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complaints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registered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daily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crime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portals</a:t>
            </a:r>
            <a:r>
              <a:rPr dirty="0" sz="2150" spc="5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Major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types: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OTP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scams,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,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impersonation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fraud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50" spc="9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Insights</a:t>
            </a:r>
            <a:endParaRPr sz="2150">
              <a:latin typeface="Microsoft Sans Serif"/>
              <a:cs typeface="Microsoft Sans Serif"/>
            </a:endParaRPr>
          </a:p>
          <a:p>
            <a:pPr marL="12700" marR="3308985">
              <a:lnSpc>
                <a:spcPct val="1366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Most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victims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fall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urgency-based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scams</a:t>
            </a:r>
            <a:r>
              <a:rPr dirty="0" sz="2150" spc="535">
                <a:solidFill>
                  <a:srgbClr val="405349"/>
                </a:solidFill>
                <a:latin typeface="Microsoft Sans Serif"/>
                <a:cs typeface="Microsoft Sans Serif"/>
              </a:rPr>
              <a:t> 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Lack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cybersecurity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increases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risk</a:t>
            </a:r>
            <a:endParaRPr sz="2150">
              <a:latin typeface="Microsoft Sans Serif"/>
              <a:cs typeface="Microsoft Sans Serif"/>
            </a:endParaRPr>
          </a:p>
          <a:p>
            <a:pPr marL="12700" marR="5080" indent="-635">
              <a:lnSpc>
                <a:spcPct val="1366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Strong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password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practices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&amp;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2-factor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authentication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reduce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chances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campaigns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help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but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need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wider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reach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979538" y="1568562"/>
            <a:ext cx="6506845" cy="1325245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750" spc="140"/>
              <a:t>Research</a:t>
            </a:r>
            <a:r>
              <a:rPr dirty="0" sz="2750" spc="-15"/>
              <a:t> </a:t>
            </a:r>
            <a:r>
              <a:rPr dirty="0" sz="2750" spc="165"/>
              <a:t>Data</a:t>
            </a:r>
            <a:r>
              <a:rPr dirty="0" sz="2750" spc="-15"/>
              <a:t> </a:t>
            </a:r>
            <a:r>
              <a:rPr dirty="0" sz="2750" spc="135"/>
              <a:t>on</a:t>
            </a:r>
            <a:r>
              <a:rPr dirty="0" sz="2750" spc="-15"/>
              <a:t> </a:t>
            </a:r>
            <a:r>
              <a:rPr dirty="0" sz="2750" spc="155"/>
              <a:t>Rising</a:t>
            </a:r>
            <a:r>
              <a:rPr dirty="0" sz="2750" spc="-15"/>
              <a:t> </a:t>
            </a:r>
            <a:r>
              <a:rPr dirty="0" sz="2750" spc="140"/>
              <a:t>Fraud</a:t>
            </a:r>
            <a:r>
              <a:rPr dirty="0" sz="2750" spc="-15"/>
              <a:t> </a:t>
            </a:r>
            <a:r>
              <a:rPr dirty="0" sz="2750" spc="145"/>
              <a:t>Cases</a:t>
            </a:r>
            <a:endParaRPr sz="2750"/>
          </a:p>
          <a:p>
            <a:pPr marL="48895">
              <a:lnSpc>
                <a:spcPct val="100000"/>
              </a:lnSpc>
              <a:spcBef>
                <a:spcPts val="1030"/>
              </a:spcBef>
            </a:pPr>
            <a:r>
              <a:rPr dirty="0" spc="229"/>
              <a:t>Global</a:t>
            </a:r>
            <a:r>
              <a:rPr dirty="0" spc="-5"/>
              <a:t> </a:t>
            </a:r>
            <a:r>
              <a:rPr dirty="0" spc="225"/>
              <a:t>Trends</a:t>
            </a: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19873" y="3077329"/>
            <a:ext cx="7753349" cy="4876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1254" y="3196129"/>
            <a:ext cx="5133974" cy="389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3361606"/>
            <a:ext cx="86458" cy="864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5209" y="3061908"/>
            <a:ext cx="7562850" cy="482409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Loss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Identity</a:t>
            </a:r>
            <a:endParaRPr sz="2300">
              <a:latin typeface="Microsoft Sans Serif"/>
              <a:cs typeface="Microsoft Sans Serif"/>
            </a:endParaRPr>
          </a:p>
          <a:p>
            <a:pPr marL="12700" marR="5080">
              <a:lnSpc>
                <a:spcPts val="3740"/>
              </a:lnSpc>
              <a:spcBef>
                <a:spcPts val="29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Deep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systems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infer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sensitive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traits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(behavior,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preferences,</a:t>
            </a:r>
            <a:r>
              <a:rPr dirty="0" sz="230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identity)</a:t>
            </a:r>
            <a:endParaRPr sz="2300">
              <a:latin typeface="Microsoft Sans Serif"/>
              <a:cs typeface="Microsoft Sans Serif"/>
            </a:endParaRPr>
          </a:p>
          <a:p>
            <a:pPr marL="12700" marR="1426210">
              <a:lnSpc>
                <a:spcPts val="3740"/>
              </a:lnSpc>
              <a:spcBef>
                <a:spcPts val="1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Data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aggregation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reduces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23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anonymity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Privacy</a:t>
            </a:r>
            <a:r>
              <a:rPr dirty="0" sz="2300" spc="1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Risks</a:t>
            </a:r>
            <a:endParaRPr sz="2300">
              <a:latin typeface="Microsoft Sans Serif"/>
              <a:cs typeface="Microsoft Sans Serif"/>
            </a:endParaRPr>
          </a:p>
          <a:p>
            <a:pPr marL="46355">
              <a:lnSpc>
                <a:spcPct val="100000"/>
              </a:lnSpc>
              <a:spcBef>
                <a:spcPts val="620"/>
              </a:spcBef>
            </a:pPr>
            <a:r>
              <a:rPr dirty="0" sz="2550">
                <a:solidFill>
                  <a:srgbClr val="405349"/>
                </a:solidFill>
                <a:latin typeface="Microsoft Sans Serif"/>
                <a:cs typeface="Microsoft Sans Serif"/>
              </a:rPr>
              <a:t>Unauthorized</a:t>
            </a:r>
            <a:r>
              <a:rPr dirty="0" sz="25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550">
                <a:solidFill>
                  <a:srgbClr val="405349"/>
                </a:solidFill>
                <a:latin typeface="Microsoft Sans Serif"/>
                <a:cs typeface="Microsoft Sans Serif"/>
              </a:rPr>
              <a:t>data</a:t>
            </a:r>
            <a:r>
              <a:rPr dirty="0" sz="25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550">
                <a:solidFill>
                  <a:srgbClr val="405349"/>
                </a:solidFill>
                <a:latin typeface="Microsoft Sans Serif"/>
                <a:cs typeface="Microsoft Sans Serif"/>
              </a:rPr>
              <a:t>collection</a:t>
            </a:r>
            <a:r>
              <a:rPr dirty="0" sz="2550" spc="-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5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550" spc="-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550" spc="-10">
                <a:solidFill>
                  <a:srgbClr val="405349"/>
                </a:solidFill>
                <a:latin typeface="Microsoft Sans Serif"/>
                <a:cs typeface="Microsoft Sans Serif"/>
              </a:rPr>
              <a:t>surveillance</a:t>
            </a:r>
            <a:endParaRPr sz="2550">
              <a:latin typeface="Microsoft Sans Serif"/>
              <a:cs typeface="Microsoft Sans Serif"/>
            </a:endParaRPr>
          </a:p>
          <a:p>
            <a:pPr marL="12700" marR="1492250">
              <a:lnSpc>
                <a:spcPct val="135700"/>
              </a:lnSpc>
              <a:spcBef>
                <a:spcPts val="12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facial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recognition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biometric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405349"/>
                </a:solidFill>
                <a:latin typeface="Microsoft Sans Serif"/>
                <a:cs typeface="Microsoft Sans Serif"/>
              </a:rPr>
              <a:t>data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405349"/>
                </a:solidFill>
                <a:latin typeface="Microsoft Sans Serif"/>
                <a:cs typeface="Microsoft Sans Serif"/>
              </a:rPr>
              <a:t>Harm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Data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breaches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exposing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private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information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Profiling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leading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unfair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judgments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about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individuals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3837127"/>
            <a:ext cx="86458" cy="864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4788167"/>
            <a:ext cx="86458" cy="864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5263686"/>
            <a:ext cx="86458" cy="864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579" y="5750014"/>
            <a:ext cx="97265" cy="97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6257956"/>
            <a:ext cx="86458" cy="864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6733475"/>
            <a:ext cx="86458" cy="8645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7208996"/>
            <a:ext cx="86458" cy="864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5965" y="7684516"/>
            <a:ext cx="86458" cy="86457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016000" y="1635686"/>
            <a:ext cx="7202805" cy="701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54"/>
              <a:t>Privacy</a:t>
            </a:r>
            <a:r>
              <a:rPr dirty="0" spc="-15"/>
              <a:t> </a:t>
            </a:r>
            <a:r>
              <a:rPr dirty="0" spc="195"/>
              <a:t>&amp;</a:t>
            </a:r>
            <a:r>
              <a:rPr dirty="0" spc="-10"/>
              <a:t> </a:t>
            </a:r>
            <a:r>
              <a:rPr dirty="0" spc="235"/>
              <a:t>Personal</a:t>
            </a:r>
            <a:r>
              <a:rPr dirty="0" spc="-15"/>
              <a:t> </a:t>
            </a:r>
            <a:r>
              <a:rPr dirty="0" spc="365"/>
              <a:t>Harm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8210" y="3094914"/>
            <a:ext cx="7489992" cy="41014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2733257"/>
            <a:ext cx="86458" cy="864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5209" y="2433558"/>
            <a:ext cx="8479790" cy="525653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Psychological</a:t>
            </a:r>
            <a:r>
              <a:rPr dirty="0" sz="2300" spc="1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Impact</a:t>
            </a:r>
            <a:endParaRPr sz="2300">
              <a:latin typeface="Microsoft Sans Serif"/>
              <a:cs typeface="Microsoft Sans Serif"/>
            </a:endParaRPr>
          </a:p>
          <a:p>
            <a:pPr marL="12700" marR="2081530">
              <a:lnSpc>
                <a:spcPts val="3740"/>
              </a:lnSpc>
              <a:spcBef>
                <a:spcPts val="29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Increased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anxiety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due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constant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monitoring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Reduced</a:t>
            </a:r>
            <a:r>
              <a:rPr dirty="0" sz="23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sense</a:t>
            </a:r>
            <a:r>
              <a:rPr dirty="0" sz="23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autonomy</a:t>
            </a:r>
            <a:r>
              <a:rPr dirty="0" sz="23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self-expression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Algorithmic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labeling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affecting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self-esteem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300" spc="1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Consequences</a:t>
            </a:r>
            <a:endParaRPr sz="2300">
              <a:latin typeface="Microsoft Sans Serif"/>
              <a:cs typeface="Microsoft Sans Serif"/>
            </a:endParaRPr>
          </a:p>
          <a:p>
            <a:pPr marL="12700" marR="1640839">
              <a:lnSpc>
                <a:spcPts val="3740"/>
              </a:lnSpc>
              <a:spcBef>
                <a:spcPts val="29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Bias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discrimination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reinforced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trained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models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Marginalization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certain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30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groups</a:t>
            </a:r>
            <a:endParaRPr sz="2300">
              <a:latin typeface="Microsoft Sans Serif"/>
              <a:cs typeface="Microsoft Sans Serif"/>
            </a:endParaRPr>
          </a:p>
          <a:p>
            <a:pPr marL="12700" marR="2621280">
              <a:lnSpc>
                <a:spcPts val="3740"/>
              </a:lnSpc>
              <a:spcBef>
                <a:spcPts val="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Erosion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trust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technology</a:t>
            </a:r>
            <a:r>
              <a:rPr dirty="0" sz="230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institutions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Findings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Studies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show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algorithmic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bias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mirrors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societal</a:t>
            </a:r>
            <a:r>
              <a:rPr dirty="0" sz="2300" spc="3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inequalities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Lack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transparency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reduces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user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230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5349"/>
                </a:solidFill>
                <a:latin typeface="Microsoft Sans Serif"/>
                <a:cs typeface="Microsoft Sans Serif"/>
              </a:rPr>
              <a:t>accountability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3208777"/>
            <a:ext cx="86458" cy="864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965" y="3684296"/>
            <a:ext cx="86458" cy="864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4159817"/>
            <a:ext cx="86458" cy="864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4635336"/>
            <a:ext cx="86458" cy="864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5110857"/>
            <a:ext cx="86458" cy="864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5586377"/>
            <a:ext cx="86458" cy="864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6061897"/>
            <a:ext cx="86458" cy="864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6537417"/>
            <a:ext cx="86458" cy="864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965" y="7012937"/>
            <a:ext cx="86458" cy="864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965" y="7488456"/>
            <a:ext cx="86458" cy="86457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6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50"/>
              <a:t>Psychological</a:t>
            </a:r>
            <a:r>
              <a:rPr dirty="0" spc="-5"/>
              <a:t> </a:t>
            </a:r>
            <a:r>
              <a:rPr dirty="0" spc="195"/>
              <a:t>&amp;</a:t>
            </a:r>
            <a:r>
              <a:rPr dirty="0" spc="-5"/>
              <a:t> </a:t>
            </a:r>
            <a:r>
              <a:rPr dirty="0" spc="240"/>
              <a:t>Social</a:t>
            </a:r>
            <a:r>
              <a:rPr dirty="0" spc="-5"/>
              <a:t> </a:t>
            </a:r>
            <a:r>
              <a:rPr dirty="0" spc="229"/>
              <a:t>Consequences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9347" y="1077587"/>
            <a:ext cx="17939385" cy="701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50"/>
              <a:t>Tackling</a:t>
            </a:r>
            <a:r>
              <a:rPr dirty="0" spc="-15"/>
              <a:t> </a:t>
            </a:r>
            <a:r>
              <a:rPr dirty="0" spc="204"/>
              <a:t>the</a:t>
            </a:r>
            <a:r>
              <a:rPr dirty="0" spc="-15"/>
              <a:t> </a:t>
            </a:r>
            <a:r>
              <a:rPr dirty="0" spc="195"/>
              <a:t>deepfake</a:t>
            </a:r>
            <a:r>
              <a:rPr dirty="0" spc="-15"/>
              <a:t> </a:t>
            </a:r>
            <a:r>
              <a:rPr dirty="0" spc="200"/>
              <a:t>crisis</a:t>
            </a:r>
            <a:r>
              <a:rPr dirty="0" spc="-15"/>
              <a:t> </a:t>
            </a:r>
            <a:r>
              <a:rPr dirty="0" spc="170"/>
              <a:t>requires</a:t>
            </a:r>
            <a:r>
              <a:rPr dirty="0" spc="-15"/>
              <a:t> </a:t>
            </a:r>
            <a:r>
              <a:rPr dirty="0" spc="210"/>
              <a:t>a</a:t>
            </a:r>
            <a:r>
              <a:rPr dirty="0" spc="-15"/>
              <a:t> </a:t>
            </a:r>
            <a:r>
              <a:rPr dirty="0" spc="204"/>
              <a:t>three-</a:t>
            </a:r>
            <a:r>
              <a:rPr dirty="0" spc="225"/>
              <a:t>pronged</a:t>
            </a:r>
            <a:r>
              <a:rPr dirty="0" spc="-15"/>
              <a:t> </a:t>
            </a:r>
            <a:r>
              <a:rPr dirty="0" spc="229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8" y="3727551"/>
            <a:ext cx="5244781" cy="1428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3059" y="4818818"/>
            <a:ext cx="4579620" cy="42760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1424305">
              <a:lnSpc>
                <a:spcPct val="102299"/>
              </a:lnSpc>
              <a:spcBef>
                <a:spcPts val="20"/>
              </a:spcBef>
            </a:pPr>
            <a:r>
              <a:rPr dirty="0" sz="3300" spc="175" b="1">
                <a:solidFill>
                  <a:srgbClr val="405349"/>
                </a:solidFill>
                <a:latin typeface="Cambria"/>
                <a:cs typeface="Cambria"/>
              </a:rPr>
              <a:t>First,</a:t>
            </a:r>
            <a:r>
              <a:rPr dirty="0" sz="3300" spc="-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290" b="1">
                <a:solidFill>
                  <a:srgbClr val="405349"/>
                </a:solidFill>
                <a:latin typeface="Cambria"/>
                <a:cs typeface="Cambria"/>
              </a:rPr>
              <a:t>AI-</a:t>
            </a:r>
            <a:r>
              <a:rPr dirty="0" sz="3300" spc="105" b="1">
                <a:solidFill>
                  <a:srgbClr val="405349"/>
                </a:solidFill>
                <a:latin typeface="Cambria"/>
                <a:cs typeface="Cambria"/>
              </a:rPr>
              <a:t>based </a:t>
            </a:r>
            <a:r>
              <a:rPr dirty="0" sz="3300" spc="120" b="1">
                <a:solidFill>
                  <a:srgbClr val="405349"/>
                </a:solidFill>
                <a:latin typeface="Cambria"/>
                <a:cs typeface="Cambria"/>
              </a:rPr>
              <a:t>detection</a:t>
            </a:r>
            <a:endParaRPr sz="330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6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While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tools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exist,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experts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agree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they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weakest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defense.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It’s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constant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cat-and-mouse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game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where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evolves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faster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than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detection,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many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fail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once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compressed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or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stripped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metadata.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1205" y="3302202"/>
            <a:ext cx="5244781" cy="1428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792017" y="4393469"/>
            <a:ext cx="4672965" cy="517144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408940">
              <a:lnSpc>
                <a:spcPct val="102299"/>
              </a:lnSpc>
              <a:spcBef>
                <a:spcPts val="20"/>
              </a:spcBef>
            </a:pPr>
            <a:r>
              <a:rPr dirty="0" sz="3300" spc="195" b="1">
                <a:solidFill>
                  <a:srgbClr val="405349"/>
                </a:solidFill>
                <a:latin typeface="Cambria"/>
                <a:cs typeface="Cambria"/>
              </a:rPr>
              <a:t>Second,</a:t>
            </a:r>
            <a:r>
              <a:rPr dirty="0" sz="3300" spc="-1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75" b="1">
                <a:solidFill>
                  <a:srgbClr val="405349"/>
                </a:solidFill>
                <a:latin typeface="Cambria"/>
                <a:cs typeface="Cambria"/>
              </a:rPr>
              <a:t>strong</a:t>
            </a:r>
            <a:r>
              <a:rPr dirty="0" sz="3300" spc="-10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20" b="1">
                <a:solidFill>
                  <a:srgbClr val="405349"/>
                </a:solidFill>
                <a:latin typeface="Cambria"/>
                <a:cs typeface="Cambria"/>
              </a:rPr>
              <a:t>legal </a:t>
            </a:r>
            <a:r>
              <a:rPr dirty="0" sz="3300" spc="170" b="1">
                <a:solidFill>
                  <a:srgbClr val="405349"/>
                </a:solidFill>
                <a:latin typeface="Cambria"/>
                <a:cs typeface="Cambria"/>
              </a:rPr>
              <a:t>frameworks</a:t>
            </a:r>
            <a:endParaRPr sz="330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6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India.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Since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AI’s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use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in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2019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general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elections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recent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high-profile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cases,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the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urgency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clear.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laws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that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mandate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transparency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political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communication,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criminalize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malicious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synthetic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media,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empower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specialized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enforcement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units</a:t>
            </a:r>
            <a:r>
              <a:rPr dirty="0" sz="2150" spc="7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for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high-tech</a:t>
            </a:r>
            <a:r>
              <a:rPr dirty="0" sz="2150" spc="8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crimes.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0162" y="2876997"/>
            <a:ext cx="5244781" cy="14287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320983" y="3968264"/>
            <a:ext cx="4471670" cy="42760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151765">
              <a:lnSpc>
                <a:spcPct val="102299"/>
              </a:lnSpc>
              <a:spcBef>
                <a:spcPts val="20"/>
              </a:spcBef>
            </a:pPr>
            <a:r>
              <a:rPr dirty="0" sz="3300" spc="160" b="1">
                <a:solidFill>
                  <a:srgbClr val="405349"/>
                </a:solidFill>
                <a:latin typeface="Cambria"/>
                <a:cs typeface="Cambria"/>
              </a:rPr>
              <a:t>Finally,</a:t>
            </a:r>
            <a:r>
              <a:rPr dirty="0" sz="330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14" b="1">
                <a:solidFill>
                  <a:srgbClr val="405349"/>
                </a:solidFill>
                <a:latin typeface="Cambria"/>
                <a:cs typeface="Cambria"/>
              </a:rPr>
              <a:t>prevention </a:t>
            </a:r>
            <a:r>
              <a:rPr dirty="0" sz="3300" spc="180" b="1">
                <a:solidFill>
                  <a:srgbClr val="405349"/>
                </a:solidFill>
                <a:latin typeface="Cambria"/>
                <a:cs typeface="Cambria"/>
              </a:rPr>
              <a:t>through</a:t>
            </a:r>
            <a:r>
              <a:rPr dirty="0" sz="3300" spc="5" b="1">
                <a:solidFill>
                  <a:srgbClr val="405349"/>
                </a:solidFill>
                <a:latin typeface="Cambria"/>
                <a:cs typeface="Cambria"/>
              </a:rPr>
              <a:t> </a:t>
            </a:r>
            <a:r>
              <a:rPr dirty="0" sz="3300" spc="130" b="1">
                <a:solidFill>
                  <a:srgbClr val="405349"/>
                </a:solidFill>
                <a:latin typeface="Cambria"/>
                <a:cs typeface="Cambria"/>
              </a:rPr>
              <a:t>provenance</a:t>
            </a:r>
            <a:endParaRPr sz="3300">
              <a:latin typeface="Cambria"/>
              <a:cs typeface="Cambria"/>
            </a:endParaRPr>
          </a:p>
          <a:p>
            <a:pPr marL="12700" marR="344805">
              <a:lnSpc>
                <a:spcPct val="136600"/>
              </a:lnSpc>
              <a:spcBef>
                <a:spcPts val="76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shifting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from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spotting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fakes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proving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authenticity.</a:t>
            </a:r>
            <a:endParaRPr sz="2150">
              <a:latin typeface="Microsoft Sans Serif"/>
              <a:cs typeface="Microsoft Sans Serif"/>
            </a:endParaRPr>
          </a:p>
          <a:p>
            <a:pPr marL="12700" marR="5080">
              <a:lnSpc>
                <a:spcPct val="1366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Technologies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cryptographic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labeling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Zero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Trust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security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allow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verify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what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source,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instead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of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endlessly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chasing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what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fake.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4971415">
              <a:lnSpc>
                <a:spcPct val="100000"/>
              </a:lnSpc>
              <a:spcBef>
                <a:spcPts val="135"/>
              </a:spcBef>
            </a:pPr>
            <a:r>
              <a:rPr dirty="0" spc="235"/>
              <a:t>Technical</a:t>
            </a:r>
            <a:r>
              <a:rPr dirty="0" spc="10"/>
              <a:t> </a:t>
            </a:r>
            <a:r>
              <a:rPr dirty="0" spc="235"/>
              <a:t>Challenges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285" y="3024070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35"/>
              <a:t>THE</a:t>
            </a:r>
            <a:r>
              <a:rPr dirty="0" spc="-30"/>
              <a:t> </a:t>
            </a:r>
            <a:r>
              <a:rPr dirty="0" spc="345"/>
              <a:t>ROAD</a:t>
            </a:r>
            <a:r>
              <a:rPr dirty="0" spc="-25"/>
              <a:t> </a:t>
            </a:r>
            <a:r>
              <a:rPr dirty="0" spc="340"/>
              <a:t>AHEAD</a:t>
            </a:r>
          </a:p>
          <a:p>
            <a:pPr marL="342265" marR="5080">
              <a:lnSpc>
                <a:spcPct val="136600"/>
              </a:lnSpc>
              <a:spcBef>
                <a:spcPts val="1165"/>
              </a:spcBef>
            </a:pP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7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faces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major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technical</a:t>
            </a:r>
            <a:r>
              <a:rPr dirty="0" sz="2150" spc="7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challenges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because</a:t>
            </a:r>
            <a:r>
              <a:rPr dirty="0" sz="2150" spc="8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modern</a:t>
            </a:r>
            <a:r>
              <a:rPr dirty="0" sz="2150" spc="8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8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(GANs</a:t>
            </a:r>
            <a:r>
              <a:rPr dirty="0" sz="2150" spc="8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and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diffusion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models)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generate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highly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realistic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images,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videos,</a:t>
            </a:r>
            <a:r>
              <a:rPr dirty="0" sz="2150" spc="5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audio.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These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models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learn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fine-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grained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facial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expressions,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lighting,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shadows,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lip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movements,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making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150" spc="7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visually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and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acoustically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close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real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data.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Rapid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improvements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in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outpace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tools,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deepfakes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be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compressed,</a:t>
            </a:r>
            <a:r>
              <a:rPr dirty="0" sz="2150" spc="7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resized,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re-encoded,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which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removes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detectable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artifacts.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Another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challenge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is 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generalization—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detectors</a:t>
            </a:r>
            <a:r>
              <a:rPr dirty="0" sz="2150" spc="7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trained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2150" spc="7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one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type</a:t>
            </a:r>
            <a:r>
              <a:rPr dirty="0" sz="2150" spc="8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 b="0">
                <a:solidFill>
                  <a:srgbClr val="405349"/>
                </a:solidFill>
                <a:latin typeface="Microsoft Sans Serif"/>
                <a:cs typeface="Microsoft Sans Serif"/>
              </a:rPr>
              <a:t>of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often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fail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new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150" spc="65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405349"/>
                </a:solidFill>
                <a:latin typeface="Microsoft Sans Serif"/>
                <a:cs typeface="Microsoft Sans Serif"/>
              </a:rPr>
              <a:t>unseen</a:t>
            </a:r>
            <a:r>
              <a:rPr dirty="0" sz="2150" spc="60" b="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405349"/>
                </a:solidFill>
                <a:latin typeface="Microsoft Sans Serif"/>
                <a:cs typeface="Microsoft Sans Serif"/>
              </a:rPr>
              <a:t>manipulation techniques.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82676" y="2379459"/>
            <a:ext cx="198120" cy="6674484"/>
          </a:xfrm>
          <a:custGeom>
            <a:avLst/>
            <a:gdLst/>
            <a:ahLst/>
            <a:cxnLst/>
            <a:rect l="l" t="t" r="r" b="b"/>
            <a:pathLst>
              <a:path w="198120" h="6674484">
                <a:moveTo>
                  <a:pt x="99657" y="6674178"/>
                </a:moveTo>
                <a:lnTo>
                  <a:pt x="97845" y="6674178"/>
                </a:lnTo>
                <a:lnTo>
                  <a:pt x="67561" y="6665474"/>
                </a:lnTo>
                <a:lnTo>
                  <a:pt x="40456" y="6640521"/>
                </a:lnTo>
                <a:lnTo>
                  <a:pt x="19071" y="6602488"/>
                </a:lnTo>
                <a:lnTo>
                  <a:pt x="5040" y="6554281"/>
                </a:lnTo>
                <a:lnTo>
                  <a:pt x="0" y="6498811"/>
                </a:lnTo>
                <a:lnTo>
                  <a:pt x="0" y="175627"/>
                </a:lnTo>
                <a:lnTo>
                  <a:pt x="5040" y="120157"/>
                </a:lnTo>
                <a:lnTo>
                  <a:pt x="19071" y="71951"/>
                </a:lnTo>
                <a:lnTo>
                  <a:pt x="40456" y="33917"/>
                </a:lnTo>
                <a:lnTo>
                  <a:pt x="98751" y="0"/>
                </a:lnTo>
                <a:lnTo>
                  <a:pt x="129940" y="8964"/>
                </a:lnTo>
                <a:lnTo>
                  <a:pt x="178431" y="71951"/>
                </a:lnTo>
                <a:lnTo>
                  <a:pt x="192462" y="120157"/>
                </a:lnTo>
                <a:lnTo>
                  <a:pt x="197501" y="175627"/>
                </a:lnTo>
                <a:lnTo>
                  <a:pt x="197501" y="6498811"/>
                </a:lnTo>
                <a:lnTo>
                  <a:pt x="192462" y="6554281"/>
                </a:lnTo>
                <a:lnTo>
                  <a:pt x="178431" y="6602488"/>
                </a:lnTo>
                <a:lnTo>
                  <a:pt x="157046" y="6640521"/>
                </a:lnTo>
                <a:lnTo>
                  <a:pt x="129940" y="6665474"/>
                </a:lnTo>
                <a:lnTo>
                  <a:pt x="99657" y="6674178"/>
                </a:lnTo>
                <a:close/>
              </a:path>
            </a:pathLst>
          </a:custGeom>
          <a:solidFill>
            <a:srgbClr val="42895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0155" y="3319367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13155" y="2119807"/>
            <a:ext cx="6931659" cy="496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245" b="1">
                <a:solidFill>
                  <a:srgbClr val="3B4540"/>
                </a:solidFill>
                <a:latin typeface="Cambria"/>
                <a:cs typeface="Cambria"/>
              </a:rPr>
              <a:t>Why</a:t>
            </a:r>
            <a:r>
              <a:rPr dirty="0" sz="3050" spc="-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050" spc="140" b="1">
                <a:solidFill>
                  <a:srgbClr val="3B4540"/>
                </a:solidFill>
                <a:latin typeface="Cambria"/>
                <a:cs typeface="Cambria"/>
              </a:rPr>
              <a:t>Detection</a:t>
            </a:r>
            <a:r>
              <a:rPr dirty="0" sz="3050" spc="-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050" spc="204" b="1">
                <a:solidFill>
                  <a:srgbClr val="3B4540"/>
                </a:solidFill>
                <a:latin typeface="Cambria"/>
                <a:cs typeface="Cambria"/>
              </a:rPr>
              <a:t>Is</a:t>
            </a:r>
            <a:r>
              <a:rPr dirty="0" sz="3050" spc="-2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3050" spc="170" b="1">
                <a:solidFill>
                  <a:srgbClr val="3B4540"/>
                </a:solidFill>
                <a:latin typeface="Cambria"/>
                <a:cs typeface="Cambria"/>
              </a:rPr>
              <a:t>Difficult</a:t>
            </a:r>
            <a:endParaRPr sz="3050">
              <a:latin typeface="Cambria"/>
              <a:cs typeface="Cambria"/>
            </a:endParaRPr>
          </a:p>
          <a:p>
            <a:pPr marL="342265" marR="5080">
              <a:lnSpc>
                <a:spcPct val="136600"/>
              </a:lnSpc>
              <a:spcBef>
                <a:spcPts val="349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difficult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because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exploit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5">
                <a:solidFill>
                  <a:srgbClr val="405349"/>
                </a:solidFill>
                <a:latin typeface="Microsoft Sans Serif"/>
                <a:cs typeface="Microsoft Sans Serif"/>
              </a:rPr>
              <a:t>the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same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found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real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media.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Early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relied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obvious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artifacts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unnatural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blinking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or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facial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distortion,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but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modern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deepfakes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correct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these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flaws.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Adversarial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also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allows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generators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intentionally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fool</a:t>
            </a:r>
            <a:r>
              <a:rPr dirty="0" sz="2150" spc="7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detectors.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Additionally,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real-world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conditions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such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as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low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resolution,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poor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lighting,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background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noise,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150" spc="6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media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compression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further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reduce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8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accuracy.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9538" y="991457"/>
            <a:ext cx="344106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95"/>
              <a:t>THE</a:t>
            </a:r>
            <a:r>
              <a:rPr dirty="0" sz="2750" spc="-20"/>
              <a:t> </a:t>
            </a:r>
            <a:r>
              <a:rPr dirty="0" sz="2750" spc="305"/>
              <a:t>ROAD</a:t>
            </a:r>
            <a:r>
              <a:rPr dirty="0" sz="2750" spc="-15"/>
              <a:t> </a:t>
            </a:r>
            <a:r>
              <a:rPr dirty="0" sz="2750" spc="295"/>
              <a:t>AHEAD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597" y="3095501"/>
            <a:ext cx="75931" cy="759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597" y="3541600"/>
            <a:ext cx="75931" cy="759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597" y="3987698"/>
            <a:ext cx="75931" cy="759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597" y="4879895"/>
            <a:ext cx="75931" cy="759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597" y="5772093"/>
            <a:ext cx="75931" cy="759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597" y="6218192"/>
            <a:ext cx="75931" cy="759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597" y="6664290"/>
            <a:ext cx="75931" cy="7593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597" y="7110389"/>
            <a:ext cx="75931" cy="759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597" y="7556488"/>
            <a:ext cx="75931" cy="7593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79538" y="1673578"/>
            <a:ext cx="12482195" cy="651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400" spc="229" b="1">
                <a:solidFill>
                  <a:srgbClr val="3B4540"/>
                </a:solidFill>
                <a:latin typeface="Cambria"/>
                <a:cs typeface="Cambria"/>
              </a:rPr>
              <a:t>Future</a:t>
            </a:r>
            <a:r>
              <a:rPr dirty="0" sz="44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195" b="1">
                <a:solidFill>
                  <a:srgbClr val="3B4540"/>
                </a:solidFill>
                <a:latin typeface="Cambria"/>
                <a:cs typeface="Cambria"/>
              </a:rPr>
              <a:t>&amp;</a:t>
            </a:r>
            <a:r>
              <a:rPr dirty="0" sz="440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60" b="1">
                <a:solidFill>
                  <a:srgbClr val="3B4540"/>
                </a:solidFill>
                <a:latin typeface="Cambria"/>
                <a:cs typeface="Cambria"/>
              </a:rPr>
              <a:t>Conclusion</a:t>
            </a:r>
            <a:r>
              <a:rPr dirty="0" sz="4400" spc="-5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195" b="1">
                <a:solidFill>
                  <a:srgbClr val="3B4540"/>
                </a:solidFill>
                <a:latin typeface="Cambria"/>
                <a:cs typeface="Cambria"/>
              </a:rPr>
              <a:t>(Deepfake</a:t>
            </a:r>
            <a:r>
              <a:rPr dirty="0" sz="4400" spc="-10" b="1">
                <a:solidFill>
                  <a:srgbClr val="3B4540"/>
                </a:solidFill>
                <a:latin typeface="Cambria"/>
                <a:cs typeface="Cambria"/>
              </a:rPr>
              <a:t> </a:t>
            </a:r>
            <a:r>
              <a:rPr dirty="0" sz="4400" spc="210" b="1">
                <a:solidFill>
                  <a:srgbClr val="3B4540"/>
                </a:solidFill>
                <a:latin typeface="Cambria"/>
                <a:cs typeface="Cambria"/>
              </a:rPr>
              <a:t>Technology)</a:t>
            </a:r>
            <a:endParaRPr sz="4400">
              <a:latin typeface="Cambria"/>
              <a:cs typeface="Cambria"/>
            </a:endParaRPr>
          </a:p>
          <a:p>
            <a:pPr marL="377190" marR="2850515">
              <a:lnSpc>
                <a:spcPct val="136100"/>
              </a:lnSpc>
              <a:spcBef>
                <a:spcPts val="359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the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future,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technology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will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become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more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realistic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It</a:t>
            </a:r>
            <a:r>
              <a:rPr dirty="0" sz="2150" spc="3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will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difficult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for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common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people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real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endParaRPr sz="2150">
              <a:latin typeface="Microsoft Sans Serif"/>
              <a:cs typeface="Microsoft Sans Serif"/>
            </a:endParaRPr>
          </a:p>
          <a:p>
            <a:pPr marL="377190" marR="2205355">
              <a:lnSpc>
                <a:spcPct val="1361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cause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serious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problems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news,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cyber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fraud,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damage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personal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reputation</a:t>
            </a:r>
            <a:endParaRPr sz="2150">
              <a:latin typeface="Microsoft Sans Serif"/>
              <a:cs typeface="Microsoft Sans Serif"/>
            </a:endParaRPr>
          </a:p>
          <a:p>
            <a:pPr marL="377190" marR="2882265">
              <a:lnSpc>
                <a:spcPct val="136100"/>
              </a:lnSpc>
              <a:spcBef>
                <a:spcPts val="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reduce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trust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in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media,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social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platforms,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digital communication</a:t>
            </a:r>
            <a:endParaRPr sz="2150">
              <a:latin typeface="Microsoft Sans Serif"/>
              <a:cs typeface="Microsoft Sans Serif"/>
            </a:endParaRPr>
          </a:p>
          <a:p>
            <a:pPr marL="377190">
              <a:lnSpc>
                <a:spcPct val="100000"/>
              </a:lnSpc>
              <a:spcBef>
                <a:spcPts val="930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Responsible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engineering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ethical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use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AI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are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very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important</a:t>
            </a:r>
            <a:endParaRPr sz="2150">
              <a:latin typeface="Microsoft Sans Serif"/>
              <a:cs typeface="Microsoft Sans Serif"/>
            </a:endParaRPr>
          </a:p>
          <a:p>
            <a:pPr marL="377190" marR="2205355">
              <a:lnSpc>
                <a:spcPct val="1361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Governments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should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make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strong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laws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control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misuse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of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technology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AI-based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tools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must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improved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fake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early</a:t>
            </a:r>
            <a:endParaRPr sz="2150">
              <a:latin typeface="Microsoft Sans Serif"/>
              <a:cs typeface="Microsoft Sans Serif"/>
            </a:endParaRPr>
          </a:p>
          <a:p>
            <a:pPr marL="377190">
              <a:lnSpc>
                <a:spcPct val="100000"/>
              </a:lnSpc>
              <a:spcBef>
                <a:spcPts val="935"/>
              </a:spcBef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Public</a:t>
            </a:r>
            <a:r>
              <a:rPr dirty="0" sz="2150" spc="4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digital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literacy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help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people</a:t>
            </a:r>
            <a:r>
              <a:rPr dirty="0" sz="2150" spc="5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stay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405349"/>
                </a:solidFill>
                <a:latin typeface="Microsoft Sans Serif"/>
                <a:cs typeface="Microsoft Sans Serif"/>
              </a:rPr>
              <a:t>safe</a:t>
            </a:r>
            <a:endParaRPr sz="2150">
              <a:latin typeface="Microsoft Sans Serif"/>
              <a:cs typeface="Microsoft Sans Serif"/>
            </a:endParaRPr>
          </a:p>
          <a:p>
            <a:pPr marL="377190" marR="2620010">
              <a:lnSpc>
                <a:spcPct val="136100"/>
              </a:lnSpc>
            </a:pP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Conclusion: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Deepfake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technology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has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both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benefits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risks,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but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with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proper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control,</a:t>
            </a:r>
            <a:r>
              <a:rPr dirty="0" sz="2150" spc="4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awareness,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responsible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use,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its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negative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impact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can</a:t>
            </a:r>
            <a:r>
              <a:rPr dirty="0" sz="2150" spc="60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405349"/>
                </a:solidFill>
                <a:latin typeface="Microsoft Sans Serif"/>
                <a:cs typeface="Microsoft Sans Serif"/>
              </a:rPr>
              <a:t>be</a:t>
            </a:r>
            <a:r>
              <a:rPr dirty="0" sz="2150" spc="55">
                <a:solidFill>
                  <a:srgbClr val="405349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405349"/>
                </a:solidFill>
                <a:latin typeface="Microsoft Sans Serif"/>
                <a:cs typeface="Microsoft Sans Serif"/>
              </a:rPr>
              <a:t>reduced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NITIN</dc:creator>
  <cp:keywords>DAHARxdvtjE,BAG0AJdbODw,0</cp:keywords>
  <dc:title>Deepfakes-and-The-Erosion-of-Trust.pptx</dc:title>
  <dcterms:created xsi:type="dcterms:W3CDTF">2026-05-02T11:40:56Z</dcterms:created>
  <dcterms:modified xsi:type="dcterms:W3CDTF">2026-05-02T11:40:56Z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2026-05-02T00:00:00Z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